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8"/>
  </p:notesMasterIdLst>
  <p:sldIdLst>
    <p:sldId id="256" r:id="rId2"/>
    <p:sldId id="257" r:id="rId3"/>
    <p:sldId id="258" r:id="rId4"/>
    <p:sldId id="259" r:id="rId5"/>
    <p:sldId id="275" r:id="rId6"/>
    <p:sldId id="261" r:id="rId7"/>
    <p:sldId id="260" r:id="rId8"/>
    <p:sldId id="263" r:id="rId9"/>
    <p:sldId id="264" r:id="rId10"/>
    <p:sldId id="268" r:id="rId11"/>
    <p:sldId id="270" r:id="rId12"/>
    <p:sldId id="271" r:id="rId13"/>
    <p:sldId id="272" r:id="rId14"/>
    <p:sldId id="276" r:id="rId15"/>
    <p:sldId id="273" r:id="rId16"/>
    <p:sldId id="274" r:id="rId1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6" d="100"/>
          <a:sy n="76" d="100"/>
        </p:scale>
        <p:origin x="82" y="43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1164253-8519-4A4B-985D-6CB2498BF94D}" type="datetimeFigureOut">
              <a:rPr lang="en-US" smtClean="0"/>
              <a:t>28-Feb-26</a:t>
            </a:fld>
            <a:endParaRPr lang="en-US"/>
          </a:p>
        </p:txBody>
      </p:sp>
      <p:sp>
        <p:nvSpPr>
          <p:cNvPr id="4" name="Espace réservé de l'image de diapositiv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CA"/>
              <a:t>Cliquez pour modifier les styles du texte du masque</a:t>
            </a:r>
          </a:p>
          <a:p>
            <a:pPr lvl="1"/>
            <a:r>
              <a:rPr lang="fr-CA"/>
              <a:t>Deuxième niveau</a:t>
            </a:r>
          </a:p>
          <a:p>
            <a:pPr lvl="2"/>
            <a:r>
              <a:rPr lang="fr-CA"/>
              <a:t>Troisième niveau</a:t>
            </a:r>
          </a:p>
          <a:p>
            <a:pPr lvl="3"/>
            <a:r>
              <a:rPr lang="fr-CA"/>
              <a:t>Quatrième niveau</a:t>
            </a:r>
          </a:p>
          <a:p>
            <a:pPr lvl="4"/>
            <a:r>
              <a:rPr lang="fr-CA"/>
              <a:t>Cinquième niveau</a:t>
            </a:r>
            <a:endParaRPr lang="en-US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6E2FB6-F916-4132-8DB6-B3F8A8C58A1B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968003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8E2C52-8931-46C6-AC34-9634FF77AD24}" type="datetime1">
              <a:rPr lang="en-US" smtClean="0"/>
              <a:t>28-Feb-26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6ADB84-1001-43F9-9612-4FF80852237E}" type="datetime1">
              <a:rPr lang="en-US" smtClean="0"/>
              <a:t>28-Feb-26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9BDF21-E4A5-47CA-A8BC-EF38029F4B15}" type="datetime1">
              <a:rPr lang="en-US" smtClean="0"/>
              <a:t>28-Feb-26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34EC64-FDD0-4010-AFF7-09E602E72587}" type="datetime1">
              <a:rPr lang="en-US" smtClean="0"/>
              <a:t>28-Feb-26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94827E-3F63-4963-94D2-2AB86592A48A}" type="datetime1">
              <a:rPr lang="en-US" smtClean="0"/>
              <a:t>28-Feb-26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48593E-02ED-431B-AF13-65BAC07DC921}" type="datetime1">
              <a:rPr lang="en-US" smtClean="0"/>
              <a:t>28-Feb-26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A953BA-8CD5-4A26-B440-0A8C145DD934}" type="datetime1">
              <a:rPr lang="en-US" smtClean="0"/>
              <a:t>28-Feb-26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642486-C691-496B-AA39-6DCD2DDB097E}" type="datetime1">
              <a:rPr lang="en-US" smtClean="0"/>
              <a:t>28-Feb-26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58CEB8-AD56-4F9C-B066-227210928B1D}" type="datetime1">
              <a:rPr lang="en-US" smtClean="0"/>
              <a:t>28-Feb-26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7AD242-7550-47F9-B8D0-055BB543D6C7}" type="datetime1">
              <a:rPr lang="en-US" smtClean="0"/>
              <a:t>28-Feb-26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4F6FC9-EAD6-4A57-8380-349139688F84}" type="datetime1">
              <a:rPr lang="en-US" smtClean="0"/>
              <a:t>28-Feb-26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7B6985C-2CF0-4591-B3F8-C2CBDBB5C34F}" type="datetime1">
              <a:rPr lang="en-US" smtClean="0"/>
              <a:t>28-Feb-26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sv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13" Type="http://schemas.openxmlformats.org/officeDocument/2006/relationships/image" Target="../media/image19.png"/><Relationship Id="rId3" Type="http://schemas.openxmlformats.org/officeDocument/2006/relationships/image" Target="../media/image9.png"/><Relationship Id="rId7" Type="http://schemas.openxmlformats.org/officeDocument/2006/relationships/image" Target="../media/image13.png"/><Relationship Id="rId12" Type="http://schemas.openxmlformats.org/officeDocument/2006/relationships/image" Target="../media/image18.png"/><Relationship Id="rId17" Type="http://schemas.openxmlformats.org/officeDocument/2006/relationships/image" Target="../media/image23.png"/><Relationship Id="rId2" Type="http://schemas.openxmlformats.org/officeDocument/2006/relationships/image" Target="../media/image4.png"/><Relationship Id="rId16" Type="http://schemas.openxmlformats.org/officeDocument/2006/relationships/image" Target="../media/image2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2.png"/><Relationship Id="rId11" Type="http://schemas.openxmlformats.org/officeDocument/2006/relationships/image" Target="../media/image17.png"/><Relationship Id="rId5" Type="http://schemas.openxmlformats.org/officeDocument/2006/relationships/image" Target="../media/image11.png"/><Relationship Id="rId15" Type="http://schemas.openxmlformats.org/officeDocument/2006/relationships/image" Target="../media/image21.png"/><Relationship Id="rId10" Type="http://schemas.openxmlformats.org/officeDocument/2006/relationships/image" Target="../media/image16.png"/><Relationship Id="rId4" Type="http://schemas.openxmlformats.org/officeDocument/2006/relationships/image" Target="../media/image10.png"/><Relationship Id="rId9" Type="http://schemas.openxmlformats.org/officeDocument/2006/relationships/image" Target="../media/image15.png"/><Relationship Id="rId14" Type="http://schemas.openxmlformats.org/officeDocument/2006/relationships/image" Target="../media/image20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7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4.png"/><Relationship Id="rId3" Type="http://schemas.openxmlformats.org/officeDocument/2006/relationships/image" Target="../media/image29.png"/><Relationship Id="rId7" Type="http://schemas.openxmlformats.org/officeDocument/2006/relationships/image" Target="../media/image33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2.png"/><Relationship Id="rId5" Type="http://schemas.openxmlformats.org/officeDocument/2006/relationships/image" Target="../media/image31.png"/><Relationship Id="rId10" Type="http://schemas.openxmlformats.org/officeDocument/2006/relationships/image" Target="../media/image36.png"/><Relationship Id="rId4" Type="http://schemas.openxmlformats.org/officeDocument/2006/relationships/image" Target="../media/image30.png"/><Relationship Id="rId9" Type="http://schemas.openxmlformats.org/officeDocument/2006/relationships/image" Target="../media/image35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42.svg"/><Relationship Id="rId3" Type="http://schemas.openxmlformats.org/officeDocument/2006/relationships/image" Target="../media/image37.png"/><Relationship Id="rId7" Type="http://schemas.openxmlformats.org/officeDocument/2006/relationships/image" Target="../media/image41.png"/><Relationship Id="rId12" Type="http://schemas.openxmlformats.org/officeDocument/2006/relationships/image" Target="../media/image46.sv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0.png"/><Relationship Id="rId11" Type="http://schemas.openxmlformats.org/officeDocument/2006/relationships/image" Target="../media/image45.png"/><Relationship Id="rId5" Type="http://schemas.openxmlformats.org/officeDocument/2006/relationships/image" Target="../media/image39.png"/><Relationship Id="rId10" Type="http://schemas.openxmlformats.org/officeDocument/2006/relationships/image" Target="../media/image44.svg"/><Relationship Id="rId4" Type="http://schemas.openxmlformats.org/officeDocument/2006/relationships/image" Target="../media/image38.png"/><Relationship Id="rId9" Type="http://schemas.openxmlformats.org/officeDocument/2006/relationships/image" Target="../media/image4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7" Type="http://schemas.openxmlformats.org/officeDocument/2006/relationships/image" Target="../media/image50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9.png"/><Relationship Id="rId5" Type="http://schemas.openxmlformats.org/officeDocument/2006/relationships/image" Target="../media/image25.png"/><Relationship Id="rId4" Type="http://schemas.openxmlformats.org/officeDocument/2006/relationships/image" Target="../media/image48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4.png"/><Relationship Id="rId5" Type="http://schemas.openxmlformats.org/officeDocument/2006/relationships/image" Target="../media/image53.png"/><Relationship Id="rId4" Type="http://schemas.openxmlformats.org/officeDocument/2006/relationships/image" Target="../media/image52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1.png"/><Relationship Id="rId3" Type="http://schemas.openxmlformats.org/officeDocument/2006/relationships/image" Target="../media/image56.png"/><Relationship Id="rId7" Type="http://schemas.openxmlformats.org/officeDocument/2006/relationships/image" Target="../media/image60.png"/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9.png"/><Relationship Id="rId5" Type="http://schemas.openxmlformats.org/officeDocument/2006/relationships/image" Target="../media/image58.png"/><Relationship Id="rId4" Type="http://schemas.openxmlformats.org/officeDocument/2006/relationships/image" Target="../media/image57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66.png"/><Relationship Id="rId3" Type="http://schemas.openxmlformats.org/officeDocument/2006/relationships/image" Target="../media/image62.png"/><Relationship Id="rId7" Type="http://schemas.openxmlformats.org/officeDocument/2006/relationships/image" Target="../media/image60.png"/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5.png"/><Relationship Id="rId5" Type="http://schemas.openxmlformats.org/officeDocument/2006/relationships/image" Target="../media/image64.png"/><Relationship Id="rId4" Type="http://schemas.openxmlformats.org/officeDocument/2006/relationships/image" Target="../media/image63.png"/><Relationship Id="rId9" Type="http://schemas.openxmlformats.org/officeDocument/2006/relationships/image" Target="../media/image67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8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9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0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1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2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5.png"/><Relationship Id="rId5" Type="http://schemas.openxmlformats.org/officeDocument/2006/relationships/image" Target="../media/image74.png"/><Relationship Id="rId4" Type="http://schemas.openxmlformats.org/officeDocument/2006/relationships/image" Target="../media/image73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6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952500"/>
          </a:xfrm>
          <a:prstGeom prst="rect">
            <a:avLst/>
          </a:prstGeom>
          <a:solidFill>
            <a:srgbClr val="004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7162800" y="38100"/>
            <a:ext cx="4857750" cy="4857750"/>
          </a:xfrm>
          <a:prstGeom prst="ellipse">
            <a:avLst/>
          </a:prstGeom>
          <a:solidFill>
            <a:srgbClr val="004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temp_slide_0_el_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248" y="-341193"/>
            <a:ext cx="2682282" cy="2457149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2451799" y="411982"/>
            <a:ext cx="10606828" cy="3693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lang="fr-FR" sz="2400" b="1" dirty="0">
                <a:solidFill>
                  <a:schemeClr val="bg1"/>
                </a:solidFill>
              </a:rPr>
              <a:t>Institut Supérieur des Etudes</a:t>
            </a:r>
            <a:r>
              <a:rPr lang="fr-FR" sz="2400" dirty="0">
                <a:solidFill>
                  <a:schemeClr val="bg1"/>
                </a:solidFill>
              </a:rPr>
              <a:t> </a:t>
            </a:r>
            <a:r>
              <a:rPr lang="fr-FR" sz="2400" b="1" dirty="0">
                <a:solidFill>
                  <a:schemeClr val="bg1"/>
                </a:solidFill>
              </a:rPr>
              <a:t>Technologie de Mahdia</a:t>
            </a:r>
            <a:endParaRPr lang="fr-FR" sz="2400" dirty="0">
              <a:solidFill>
                <a:schemeClr val="bg1"/>
              </a:solidFill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476250" y="2108001"/>
            <a:ext cx="22479000" cy="20115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3500"/>
              </a:lnSpc>
            </a:pPr>
            <a:r>
              <a:rPr sz="7200" b="1" dirty="0">
                <a:solidFill>
                  <a:srgbClr val="000000"/>
                </a:solidFill>
                <a:latin typeface="Segoe UI"/>
              </a:rPr>
              <a:t>Application</a:t>
            </a:r>
          </a:p>
          <a:p>
            <a:pPr algn="l">
              <a:lnSpc>
                <a:spcPct val="93500"/>
              </a:lnSpc>
            </a:pPr>
            <a:r>
              <a:rPr sz="7200" b="1" dirty="0">
                <a:solidFill>
                  <a:srgbClr val="000000"/>
                </a:solidFill>
                <a:latin typeface="Segoe UI"/>
              </a:rPr>
              <a:t>E-commerce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5815" y="4451347"/>
            <a:ext cx="22479000" cy="4773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27500"/>
              </a:lnSpc>
            </a:pPr>
            <a:r>
              <a:rPr sz="2700" dirty="0">
                <a:solidFill>
                  <a:srgbClr val="000000"/>
                </a:solidFill>
                <a:latin typeface="Segoe UI"/>
              </a:rPr>
              <a:t>Stage </a:t>
            </a:r>
            <a:r>
              <a:rPr lang="fr-FR" sz="2700" dirty="0">
                <a:solidFill>
                  <a:srgbClr val="000000"/>
                </a:solidFill>
                <a:latin typeface="Segoe UI"/>
              </a:rPr>
              <a:t>de perfectionnement </a:t>
            </a:r>
            <a:r>
              <a:rPr sz="2700" dirty="0">
                <a:solidFill>
                  <a:srgbClr val="000000"/>
                </a:solidFill>
                <a:latin typeface="Segoe UI"/>
              </a:rPr>
              <a:t>— SOLVERS Technologies</a:t>
            </a:r>
          </a:p>
        </p:txBody>
      </p:sp>
      <p:sp>
        <p:nvSpPr>
          <p:cNvPr id="10" name="Rectangle 9"/>
          <p:cNvSpPr/>
          <p:nvPr/>
        </p:nvSpPr>
        <p:spPr>
          <a:xfrm>
            <a:off x="476250" y="5205412"/>
            <a:ext cx="11239500" cy="1081087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11" name="Connector 10"/>
          <p:cNvCxnSpPr/>
          <p:nvPr/>
        </p:nvCxnSpPr>
        <p:spPr>
          <a:xfrm>
            <a:off x="476250" y="5205412"/>
            <a:ext cx="0" cy="1081087"/>
          </a:xfrm>
          <a:prstGeom prst="line">
            <a:avLst/>
          </a:prstGeom>
          <a:ln w="38100">
            <a:solidFill>
              <a:srgbClr val="0048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742950" y="5281612"/>
            <a:ext cx="21945600" cy="30956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8125"/>
              </a:lnSpc>
            </a:pPr>
            <a:r>
              <a:rPr sz="1500" b="1">
                <a:solidFill>
                  <a:srgbClr val="000000"/>
                </a:solidFill>
                <a:latin typeface="Segoe UI"/>
              </a:rPr>
              <a:t>Étudiant :</a:t>
            </a:r>
            <a:r>
              <a:rPr sz="1500">
                <a:solidFill>
                  <a:srgbClr val="000000"/>
                </a:solidFill>
                <a:latin typeface="Segoe UI"/>
              </a:rPr>
              <a:t> BEN GHILINE Sohib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2950" y="5591175"/>
            <a:ext cx="21945600" cy="30956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8125"/>
              </a:lnSpc>
            </a:pPr>
            <a:r>
              <a:rPr sz="1500" b="1">
                <a:solidFill>
                  <a:srgbClr val="000000"/>
                </a:solidFill>
                <a:latin typeface="Segoe UI"/>
              </a:rPr>
              <a:t>Encadrant :</a:t>
            </a:r>
            <a:r>
              <a:rPr sz="1500">
                <a:solidFill>
                  <a:srgbClr val="000000"/>
                </a:solidFill>
                <a:latin typeface="Segoe UI"/>
              </a:rPr>
              <a:t> BEN OUIRANE Yassine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42950" y="5900737"/>
            <a:ext cx="21945600" cy="30956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8125"/>
              </a:lnSpc>
            </a:pPr>
            <a:r>
              <a:rPr sz="1500" b="1">
                <a:solidFill>
                  <a:srgbClr val="000000"/>
                </a:solidFill>
                <a:latin typeface="Segoe UI"/>
              </a:rPr>
              <a:t>Période :</a:t>
            </a:r>
            <a:r>
              <a:rPr sz="1500">
                <a:solidFill>
                  <a:srgbClr val="000000"/>
                </a:solidFill>
                <a:latin typeface="Segoe UI"/>
              </a:rPr>
              <a:t> 05 Jan 2026 – 31 Jan 2026</a:t>
            </a:r>
          </a:p>
        </p:txBody>
      </p:sp>
      <p:pic>
        <p:nvPicPr>
          <p:cNvPr id="19" name="Graphique 18">
            <a:extLst>
              <a:ext uri="{FF2B5EF4-FFF2-40B4-BE49-F238E27FC236}">
                <a16:creationId xmlns:a16="http://schemas.microsoft.com/office/drawing/2014/main" id="{02DCDB57-6B6B-4290-4B01-6D34C738A44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864258" y="617410"/>
            <a:ext cx="3520063" cy="3657459"/>
          </a:xfrm>
          <a:prstGeom prst="rect">
            <a:avLst/>
          </a:prstGeom>
        </p:spPr>
      </p:pic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D5FF3CB6-816F-779F-FF84-5617DE5424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1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Picture 1" descr="temp_bg_slide_0.png">
            <a:extLst>
              <a:ext uri="{FF2B5EF4-FFF2-40B4-BE49-F238E27FC236}">
                <a16:creationId xmlns:a16="http://schemas.microsoft.com/office/drawing/2014/main" id="{9C8CC366-2C91-A538-D792-334DD974266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extBox 1"/>
          <p:cNvSpPr txBox="1"/>
          <p:nvPr/>
        </p:nvSpPr>
        <p:spPr>
          <a:xfrm>
            <a:off x="476250" y="190500"/>
            <a:ext cx="685800" cy="2143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7500"/>
              </a:lnSpc>
            </a:pPr>
            <a:r>
              <a:rPr sz="1125" dirty="0">
                <a:solidFill>
                  <a:srgbClr val="000000"/>
                </a:solidFill>
                <a:latin typeface="Segoe UI"/>
              </a:rPr>
              <a:t>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96450" y="190500"/>
            <a:ext cx="4038600" cy="2143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7500"/>
              </a:lnSpc>
            </a:pPr>
            <a:r>
              <a:rPr sz="1125">
                <a:solidFill>
                  <a:srgbClr val="000000"/>
                </a:solidFill>
                <a:latin typeface="Segoe UI"/>
              </a:rPr>
              <a:t>Stage SOLVERS Technologies</a:t>
            </a:r>
          </a:p>
        </p:txBody>
      </p:sp>
      <p:pic>
        <p:nvPicPr>
          <p:cNvPr id="5" name="Picture 4" descr="temp_slide_0_el_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6750" y="1307306"/>
            <a:ext cx="1714500" cy="17145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209675" y="1564385"/>
            <a:ext cx="7829550" cy="132959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0000"/>
              </a:lnSpc>
            </a:pPr>
            <a:r>
              <a:rPr lang="fr-FR" sz="9600" b="1" dirty="0">
                <a:solidFill>
                  <a:srgbClr val="000000"/>
                </a:solidFill>
                <a:latin typeface="Segoe UI"/>
              </a:rPr>
              <a:t>Plan</a:t>
            </a:r>
            <a:endParaRPr sz="9600" b="1" dirty="0">
              <a:solidFill>
                <a:srgbClr val="000000"/>
              </a:solidFill>
              <a:latin typeface="Segoe UI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6096000" y="1783556"/>
            <a:ext cx="762000" cy="30003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7500"/>
              </a:lnSpc>
            </a:pPr>
            <a:r>
              <a:rPr sz="1575" b="1">
                <a:solidFill>
                  <a:srgbClr val="0048FF"/>
                </a:solidFill>
                <a:latin typeface="Segoe UI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667500" y="1783556"/>
            <a:ext cx="5219700" cy="25003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6250"/>
              </a:lnSpc>
            </a:pPr>
            <a:r>
              <a:rPr sz="1575" dirty="0" err="1">
                <a:solidFill>
                  <a:srgbClr val="000000"/>
                </a:solidFill>
                <a:latin typeface="Segoe UI"/>
              </a:rPr>
              <a:t>Présentation</a:t>
            </a:r>
            <a:r>
              <a:rPr sz="1575" dirty="0">
                <a:solidFill>
                  <a:srgbClr val="000000"/>
                </a:solidFill>
                <a:latin typeface="Segoe UI"/>
              </a:rPr>
              <a:t> de </a:t>
            </a:r>
            <a:r>
              <a:rPr sz="1575" dirty="0" err="1">
                <a:solidFill>
                  <a:srgbClr val="000000"/>
                </a:solidFill>
                <a:latin typeface="Segoe UI"/>
              </a:rPr>
              <a:t>l'Entreprise</a:t>
            </a:r>
            <a:endParaRPr sz="1575" dirty="0">
              <a:solidFill>
                <a:srgbClr val="000000"/>
              </a:solidFill>
              <a:latin typeface="Segoe UI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6096000" y="2255043"/>
            <a:ext cx="762000" cy="30003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7500"/>
              </a:lnSpc>
            </a:pPr>
            <a:r>
              <a:rPr sz="1575" b="1">
                <a:solidFill>
                  <a:srgbClr val="0048FF"/>
                </a:solidFill>
                <a:latin typeface="Segoe UI"/>
              </a:rP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67500" y="2255043"/>
            <a:ext cx="6762750" cy="25003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6250"/>
              </a:lnSpc>
            </a:pPr>
            <a:r>
              <a:rPr sz="1575" dirty="0" err="1">
                <a:solidFill>
                  <a:srgbClr val="000000"/>
                </a:solidFill>
                <a:latin typeface="Segoe UI"/>
              </a:rPr>
              <a:t>Contexte</a:t>
            </a:r>
            <a:r>
              <a:rPr sz="1575" dirty="0">
                <a:solidFill>
                  <a:srgbClr val="000000"/>
                </a:solidFill>
                <a:latin typeface="Segoe UI"/>
              </a:rPr>
              <a:t> du Stage &amp; </a:t>
            </a:r>
            <a:r>
              <a:rPr sz="1575" dirty="0" err="1">
                <a:solidFill>
                  <a:srgbClr val="000000"/>
                </a:solidFill>
                <a:latin typeface="Segoe UI"/>
              </a:rPr>
              <a:t>Problématique</a:t>
            </a:r>
            <a:endParaRPr sz="1575" dirty="0">
              <a:solidFill>
                <a:srgbClr val="000000"/>
              </a:solidFill>
              <a:latin typeface="Segoe UI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6096000" y="2726531"/>
            <a:ext cx="762000" cy="30003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7500"/>
              </a:lnSpc>
            </a:pPr>
            <a:r>
              <a:rPr sz="1575" b="1">
                <a:solidFill>
                  <a:srgbClr val="0048FF"/>
                </a:solidFill>
                <a:latin typeface="Segoe UI"/>
              </a:rPr>
              <a:t>03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67500" y="2726531"/>
            <a:ext cx="6000750" cy="23852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6250"/>
              </a:lnSpc>
            </a:pPr>
            <a:r>
              <a:rPr sz="1575" dirty="0">
                <a:solidFill>
                  <a:srgbClr val="000000"/>
                </a:solidFill>
                <a:latin typeface="Segoe UI"/>
              </a:rPr>
              <a:t>Architecture</a:t>
            </a:r>
            <a:r>
              <a:rPr lang="fr-FR" sz="1575" dirty="0">
                <a:solidFill>
                  <a:srgbClr val="000000"/>
                </a:solidFill>
                <a:latin typeface="Segoe UI"/>
              </a:rPr>
              <a:t> logicielle</a:t>
            </a:r>
            <a:endParaRPr sz="1575" dirty="0">
              <a:solidFill>
                <a:srgbClr val="000000"/>
              </a:solidFill>
              <a:latin typeface="Segoe UI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6096000" y="3198018"/>
            <a:ext cx="762000" cy="30003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7500"/>
              </a:lnSpc>
            </a:pPr>
            <a:r>
              <a:rPr sz="1575" b="1">
                <a:solidFill>
                  <a:srgbClr val="0048FF"/>
                </a:solidFill>
                <a:latin typeface="Segoe UI"/>
              </a:rPr>
              <a:t>04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67500" y="3198018"/>
            <a:ext cx="5676900" cy="23852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06250"/>
              </a:lnSpc>
            </a:pPr>
            <a:r>
              <a:rPr lang="en-US" sz="1575" dirty="0" err="1">
                <a:solidFill>
                  <a:srgbClr val="000000"/>
                </a:solidFill>
                <a:latin typeface="Segoe UI"/>
              </a:rPr>
              <a:t>Diagramme</a:t>
            </a:r>
            <a:r>
              <a:rPr lang="en-US" sz="1575" dirty="0">
                <a:solidFill>
                  <a:srgbClr val="000000"/>
                </a:solidFill>
                <a:latin typeface="Segoe UI"/>
              </a:rPr>
              <a:t> de </a:t>
            </a:r>
            <a:r>
              <a:rPr lang="en-US" sz="1575" dirty="0" err="1">
                <a:solidFill>
                  <a:srgbClr val="000000"/>
                </a:solidFill>
                <a:latin typeface="Segoe UI"/>
              </a:rPr>
              <a:t>c</a:t>
            </a:r>
            <a:r>
              <a:rPr sz="1575" dirty="0" err="1">
                <a:solidFill>
                  <a:srgbClr val="000000"/>
                </a:solidFill>
                <a:latin typeface="Segoe UI"/>
              </a:rPr>
              <a:t>as</a:t>
            </a:r>
            <a:r>
              <a:rPr sz="1575" dirty="0">
                <a:solidFill>
                  <a:srgbClr val="000000"/>
                </a:solidFill>
                <a:latin typeface="Segoe UI"/>
              </a:rPr>
              <a:t> </a:t>
            </a:r>
            <a:r>
              <a:rPr sz="1575" dirty="0" err="1">
                <a:solidFill>
                  <a:srgbClr val="000000"/>
                </a:solidFill>
                <a:latin typeface="Segoe UI"/>
              </a:rPr>
              <a:t>d'Utilisation</a:t>
            </a:r>
            <a:endParaRPr sz="1575" dirty="0">
              <a:solidFill>
                <a:srgbClr val="000000"/>
              </a:solidFill>
              <a:latin typeface="Segoe UI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6096000" y="3669506"/>
            <a:ext cx="762000" cy="30003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7500"/>
              </a:lnSpc>
            </a:pPr>
            <a:r>
              <a:rPr sz="1575" b="1">
                <a:solidFill>
                  <a:srgbClr val="0048FF"/>
                </a:solidFill>
                <a:latin typeface="Segoe UI"/>
              </a:rPr>
              <a:t>05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67500" y="3669506"/>
            <a:ext cx="8382000" cy="23852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6250"/>
              </a:lnSpc>
            </a:pPr>
            <a:r>
              <a:rPr sz="1575" dirty="0" err="1">
                <a:solidFill>
                  <a:srgbClr val="000000"/>
                </a:solidFill>
                <a:latin typeface="Segoe UI"/>
              </a:rPr>
              <a:t>Diagramme</a:t>
            </a:r>
            <a:r>
              <a:rPr sz="1575" dirty="0">
                <a:solidFill>
                  <a:srgbClr val="000000"/>
                </a:solidFill>
                <a:latin typeface="Segoe UI"/>
              </a:rPr>
              <a:t> de Classes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096000" y="4140993"/>
            <a:ext cx="762000" cy="30003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7500"/>
              </a:lnSpc>
            </a:pPr>
            <a:r>
              <a:rPr sz="1575" b="1">
                <a:solidFill>
                  <a:srgbClr val="0048FF"/>
                </a:solidFill>
                <a:latin typeface="Segoe UI"/>
              </a:rPr>
              <a:t>06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67500" y="4140993"/>
            <a:ext cx="8229600" cy="23852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6250"/>
              </a:lnSpc>
            </a:pPr>
            <a:r>
              <a:rPr sz="1575" dirty="0" err="1">
                <a:solidFill>
                  <a:srgbClr val="000000"/>
                </a:solidFill>
                <a:latin typeface="Segoe UI"/>
              </a:rPr>
              <a:t>Diagrammes</a:t>
            </a:r>
            <a:r>
              <a:rPr sz="1575" dirty="0">
                <a:solidFill>
                  <a:srgbClr val="000000"/>
                </a:solidFill>
                <a:latin typeface="Segoe UI"/>
              </a:rPr>
              <a:t> de </a:t>
            </a:r>
            <a:r>
              <a:rPr sz="1575" dirty="0" err="1">
                <a:solidFill>
                  <a:srgbClr val="000000"/>
                </a:solidFill>
                <a:latin typeface="Segoe UI"/>
              </a:rPr>
              <a:t>Séquence</a:t>
            </a:r>
            <a:endParaRPr sz="1575" dirty="0">
              <a:solidFill>
                <a:srgbClr val="000000"/>
              </a:solidFill>
              <a:latin typeface="Segoe UI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6096000" y="4612481"/>
            <a:ext cx="762000" cy="30003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7500"/>
              </a:lnSpc>
            </a:pPr>
            <a:r>
              <a:rPr sz="1575" b="1">
                <a:solidFill>
                  <a:srgbClr val="0048FF"/>
                </a:solidFill>
                <a:latin typeface="Segoe UI"/>
              </a:rPr>
              <a:t>07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67500" y="4612481"/>
            <a:ext cx="4572000" cy="25003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6250"/>
              </a:lnSpc>
            </a:pPr>
            <a:r>
              <a:rPr sz="1575">
                <a:solidFill>
                  <a:srgbClr val="000000"/>
                </a:solidFill>
                <a:latin typeface="Segoe UI"/>
              </a:rPr>
              <a:t>Implémentation &amp; Outils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096000" y="5083968"/>
            <a:ext cx="762000" cy="30003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7500"/>
              </a:lnSpc>
            </a:pPr>
            <a:r>
              <a:rPr sz="1575" b="1" dirty="0">
                <a:solidFill>
                  <a:srgbClr val="0048FF"/>
                </a:solidFill>
                <a:latin typeface="Segoe UI"/>
              </a:rPr>
              <a:t>08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67500" y="5083968"/>
            <a:ext cx="4381500" cy="23852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6250"/>
              </a:lnSpc>
            </a:pPr>
            <a:r>
              <a:rPr sz="1575" dirty="0">
                <a:solidFill>
                  <a:srgbClr val="000000"/>
                </a:solidFill>
                <a:latin typeface="Segoe UI"/>
              </a:rPr>
              <a:t>Interface</a:t>
            </a:r>
            <a:r>
              <a:rPr lang="fr-FR" sz="1575" dirty="0">
                <a:solidFill>
                  <a:srgbClr val="000000"/>
                </a:solidFill>
                <a:latin typeface="Segoe UI"/>
              </a:rPr>
              <a:t>s</a:t>
            </a:r>
            <a:endParaRPr sz="1575" dirty="0">
              <a:solidFill>
                <a:srgbClr val="000000"/>
              </a:solidFill>
              <a:latin typeface="Segoe UI"/>
            </a:endParaRPr>
          </a:p>
        </p:txBody>
      </p:sp>
      <p:sp>
        <p:nvSpPr>
          <p:cNvPr id="3" name="TextBox 20">
            <a:extLst>
              <a:ext uri="{FF2B5EF4-FFF2-40B4-BE49-F238E27FC236}">
                <a16:creationId xmlns:a16="http://schemas.microsoft.com/office/drawing/2014/main" id="{8EC053FC-DE97-3B04-1C0A-891D41B34FB6}"/>
              </a:ext>
            </a:extLst>
          </p:cNvPr>
          <p:cNvSpPr txBox="1"/>
          <p:nvPr/>
        </p:nvSpPr>
        <p:spPr>
          <a:xfrm>
            <a:off x="6096000" y="5549711"/>
            <a:ext cx="762000" cy="27847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7500"/>
              </a:lnSpc>
            </a:pPr>
            <a:r>
              <a:rPr sz="1575" b="1" dirty="0">
                <a:solidFill>
                  <a:srgbClr val="0048FF"/>
                </a:solidFill>
                <a:latin typeface="Segoe UI"/>
              </a:rPr>
              <a:t>0</a:t>
            </a:r>
            <a:r>
              <a:rPr lang="fr-FR" sz="1575" b="1" dirty="0">
                <a:solidFill>
                  <a:srgbClr val="0048FF"/>
                </a:solidFill>
                <a:latin typeface="Segoe UI"/>
              </a:rPr>
              <a:t>9</a:t>
            </a:r>
            <a:endParaRPr sz="1575" b="1" dirty="0">
              <a:solidFill>
                <a:srgbClr val="0048FF"/>
              </a:solidFill>
              <a:latin typeface="Segoe UI"/>
            </a:endParaRPr>
          </a:p>
        </p:txBody>
      </p:sp>
      <p:sp>
        <p:nvSpPr>
          <p:cNvPr id="25" name="ZoneTexte 24">
            <a:extLst>
              <a:ext uri="{FF2B5EF4-FFF2-40B4-BE49-F238E27FC236}">
                <a16:creationId xmlns:a16="http://schemas.microsoft.com/office/drawing/2014/main" id="{EDA130AB-B1EA-5492-861A-2710F2F2B398}"/>
              </a:ext>
            </a:extLst>
          </p:cNvPr>
          <p:cNvSpPr txBox="1"/>
          <p:nvPr/>
        </p:nvSpPr>
        <p:spPr>
          <a:xfrm>
            <a:off x="6594987" y="5519671"/>
            <a:ext cx="7565922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580" kern="1200" dirty="0">
                <a:solidFill>
                  <a:srgbClr val="000000"/>
                </a:solidFill>
                <a:effectLst/>
                <a:latin typeface="Segoe UI" panose="020B0502040204020203" pitchFamily="34" charset="0"/>
                <a:ea typeface="+mn-ea"/>
                <a:cs typeface="+mn-cs"/>
              </a:rPr>
              <a:t>Conclusion</a:t>
            </a:r>
            <a:endParaRPr lang="en-US" sz="1580" dirty="0"/>
          </a:p>
        </p:txBody>
      </p:sp>
      <p:sp>
        <p:nvSpPr>
          <p:cNvPr id="26" name="Espace réservé du numéro de diapositive 25">
            <a:extLst>
              <a:ext uri="{FF2B5EF4-FFF2-40B4-BE49-F238E27FC236}">
                <a16:creationId xmlns:a16="http://schemas.microsoft.com/office/drawing/2014/main" id="{96F08C4E-652D-D2CA-B097-27D9E27041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2</a:t>
            </a:fld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Picture 1" descr="temp_bg_slide_0.png">
            <a:extLst>
              <a:ext uri="{FF2B5EF4-FFF2-40B4-BE49-F238E27FC236}">
                <a16:creationId xmlns:a16="http://schemas.microsoft.com/office/drawing/2014/main" id="{2CFEEE4A-A367-5AB5-3A90-CBCDD7640BC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1" name="Ellipse 20">
            <a:extLst>
              <a:ext uri="{FF2B5EF4-FFF2-40B4-BE49-F238E27FC236}">
                <a16:creationId xmlns:a16="http://schemas.microsoft.com/office/drawing/2014/main" id="{17F2975F-84ED-09DC-1E14-297135021AED}"/>
              </a:ext>
            </a:extLst>
          </p:cNvPr>
          <p:cNvSpPr/>
          <p:nvPr/>
        </p:nvSpPr>
        <p:spPr>
          <a:xfrm>
            <a:off x="695325" y="679654"/>
            <a:ext cx="1160201" cy="1111031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/>
          <p:cNvSpPr txBox="1"/>
          <p:nvPr/>
        </p:nvSpPr>
        <p:spPr>
          <a:xfrm>
            <a:off x="476250" y="190500"/>
            <a:ext cx="685800" cy="2143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7500"/>
              </a:lnSpc>
            </a:pPr>
            <a:r>
              <a:rPr sz="1125">
                <a:solidFill>
                  <a:srgbClr val="000000"/>
                </a:solidFill>
                <a:latin typeface="Segoe UI"/>
              </a:rPr>
              <a:t>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96450" y="190500"/>
            <a:ext cx="4038600" cy="2143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7500"/>
              </a:lnSpc>
            </a:pPr>
            <a:r>
              <a:rPr sz="1125">
                <a:solidFill>
                  <a:srgbClr val="000000"/>
                </a:solidFill>
                <a:latin typeface="Segoe UI"/>
              </a:rPr>
              <a:t>Stage SOLVERS Technologies</a:t>
            </a:r>
          </a:p>
        </p:txBody>
      </p:sp>
      <p:sp>
        <p:nvSpPr>
          <p:cNvPr id="5" name="TextBox 4"/>
          <p:cNvSpPr txBox="1"/>
          <p:nvPr/>
        </p:nvSpPr>
        <p:spPr>
          <a:xfrm flipH="1">
            <a:off x="914400" y="890553"/>
            <a:ext cx="6608450" cy="121507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3500"/>
              </a:lnSpc>
            </a:pPr>
            <a:r>
              <a:rPr sz="4200" b="1" dirty="0">
                <a:solidFill>
                  <a:srgbClr val="000000"/>
                </a:solidFill>
                <a:latin typeface="Segoe UI"/>
              </a:rPr>
              <a:t>SOLVERS Technologies —</a:t>
            </a:r>
          </a:p>
          <a:p>
            <a:pPr algn="l">
              <a:lnSpc>
                <a:spcPct val="93500"/>
              </a:lnSpc>
            </a:pPr>
            <a:r>
              <a:rPr sz="4200" b="1" dirty="0">
                <a:solidFill>
                  <a:srgbClr val="000000"/>
                </a:solidFill>
                <a:latin typeface="Segoe UI"/>
              </a:rPr>
              <a:t>Qui </a:t>
            </a:r>
            <a:r>
              <a:rPr sz="4200" b="1" dirty="0" err="1">
                <a:solidFill>
                  <a:srgbClr val="000000"/>
                </a:solidFill>
                <a:latin typeface="Segoe UI"/>
              </a:rPr>
              <a:t>sommes</a:t>
            </a:r>
            <a:r>
              <a:rPr sz="4200" b="1" dirty="0">
                <a:solidFill>
                  <a:srgbClr val="000000"/>
                </a:solidFill>
                <a:latin typeface="Segoe UI"/>
              </a:rPr>
              <a:t>-nous</a:t>
            </a:r>
          </a:p>
        </p:txBody>
      </p:sp>
      <p:sp>
        <p:nvSpPr>
          <p:cNvPr id="7" name="Oval 6"/>
          <p:cNvSpPr/>
          <p:nvPr/>
        </p:nvSpPr>
        <p:spPr>
          <a:xfrm>
            <a:off x="666750" y="3430339"/>
            <a:ext cx="57150" cy="57150"/>
          </a:xfrm>
          <a:prstGeom prst="ellipse">
            <a:avLst/>
          </a:prstGeom>
          <a:solidFill>
            <a:srgbClr val="004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14400" y="3335089"/>
            <a:ext cx="5467350" cy="8572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6250"/>
              </a:lnSpc>
            </a:pPr>
            <a:r>
              <a:rPr sz="1800" b="1" dirty="0" err="1">
                <a:solidFill>
                  <a:srgbClr val="000000"/>
                </a:solidFill>
                <a:latin typeface="Segoe UI"/>
              </a:rPr>
              <a:t>Entreprise</a:t>
            </a:r>
            <a:r>
              <a:rPr sz="1800" b="1" dirty="0">
                <a:solidFill>
                  <a:srgbClr val="000000"/>
                </a:solidFill>
                <a:latin typeface="Segoe UI"/>
              </a:rPr>
              <a:t> :</a:t>
            </a:r>
            <a:r>
              <a:rPr sz="1800" dirty="0">
                <a:solidFill>
                  <a:srgbClr val="000000"/>
                </a:solidFill>
                <a:latin typeface="Segoe UI"/>
              </a:rPr>
              <a:t> Société </a:t>
            </a:r>
            <a:r>
              <a:rPr sz="1800" dirty="0" err="1">
                <a:solidFill>
                  <a:srgbClr val="000000"/>
                </a:solidFill>
                <a:latin typeface="Segoe UI"/>
              </a:rPr>
              <a:t>spécialisée</a:t>
            </a:r>
            <a:r>
              <a:rPr sz="1800" dirty="0">
                <a:solidFill>
                  <a:srgbClr val="000000"/>
                </a:solidFill>
                <a:latin typeface="Segoe UI"/>
              </a:rPr>
              <a:t> dans le </a:t>
            </a:r>
            <a:r>
              <a:rPr sz="1800" dirty="0" err="1">
                <a:solidFill>
                  <a:srgbClr val="000000"/>
                </a:solidFill>
                <a:latin typeface="Segoe UI"/>
              </a:rPr>
              <a:t>développement</a:t>
            </a:r>
            <a:r>
              <a:rPr sz="1800" dirty="0">
                <a:solidFill>
                  <a:srgbClr val="000000"/>
                </a:solidFill>
                <a:latin typeface="Segoe UI"/>
              </a:rPr>
              <a:t> de </a:t>
            </a:r>
            <a:r>
              <a:rPr sz="1800" dirty="0" err="1">
                <a:solidFill>
                  <a:srgbClr val="000000"/>
                </a:solidFill>
                <a:latin typeface="Segoe UI"/>
              </a:rPr>
              <a:t>logiciels</a:t>
            </a:r>
            <a:r>
              <a:rPr sz="1800" dirty="0">
                <a:solidFill>
                  <a:srgbClr val="000000"/>
                </a:solidFill>
                <a:latin typeface="Segoe UI"/>
              </a:rPr>
              <a:t> </a:t>
            </a:r>
            <a:r>
              <a:rPr sz="1800" dirty="0" err="1">
                <a:solidFill>
                  <a:srgbClr val="000000"/>
                </a:solidFill>
                <a:latin typeface="Segoe UI"/>
              </a:rPr>
              <a:t>personnalisés</a:t>
            </a:r>
            <a:r>
              <a:rPr sz="1800" dirty="0">
                <a:solidFill>
                  <a:srgbClr val="000000"/>
                </a:solidFill>
                <a:latin typeface="Segoe UI"/>
              </a:rPr>
              <a:t> et solutions </a:t>
            </a:r>
            <a:r>
              <a:rPr sz="1800" dirty="0" err="1">
                <a:solidFill>
                  <a:srgbClr val="000000"/>
                </a:solidFill>
                <a:latin typeface="Segoe UI"/>
              </a:rPr>
              <a:t>digitales</a:t>
            </a:r>
            <a:endParaRPr sz="1800" dirty="0">
              <a:solidFill>
                <a:srgbClr val="000000"/>
              </a:solidFill>
              <a:latin typeface="Segoe UI"/>
            </a:endParaRPr>
          </a:p>
        </p:txBody>
      </p:sp>
      <p:sp>
        <p:nvSpPr>
          <p:cNvPr id="9" name="Oval 8"/>
          <p:cNvSpPr/>
          <p:nvPr/>
        </p:nvSpPr>
        <p:spPr>
          <a:xfrm>
            <a:off x="666750" y="4573339"/>
            <a:ext cx="57150" cy="57150"/>
          </a:xfrm>
          <a:prstGeom prst="ellipse">
            <a:avLst/>
          </a:prstGeom>
          <a:solidFill>
            <a:srgbClr val="004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14400" y="4478089"/>
            <a:ext cx="3105150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6250"/>
              </a:lnSpc>
            </a:pPr>
            <a:r>
              <a:rPr sz="1800" b="1">
                <a:solidFill>
                  <a:srgbClr val="000000"/>
                </a:solidFill>
                <a:latin typeface="Segoe UI"/>
              </a:rPr>
              <a:t>Localisations :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14400" y="4859089"/>
            <a:ext cx="5410200" cy="55245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12" name="Connector 11"/>
          <p:cNvCxnSpPr/>
          <p:nvPr/>
        </p:nvCxnSpPr>
        <p:spPr>
          <a:xfrm>
            <a:off x="914400" y="4859089"/>
            <a:ext cx="0" cy="552450"/>
          </a:xfrm>
          <a:prstGeom prst="line">
            <a:avLst/>
          </a:prstGeom>
          <a:ln w="19050">
            <a:solidFill>
              <a:srgbClr val="0046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1028700" y="4859089"/>
            <a:ext cx="10591800" cy="2381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6250"/>
              </a:lnSpc>
            </a:pPr>
            <a:r>
              <a:rPr sz="1500" dirty="0" err="1">
                <a:solidFill>
                  <a:srgbClr val="364153"/>
                </a:solidFill>
                <a:latin typeface="Segoe UI"/>
              </a:rPr>
              <a:t>Siège</a:t>
            </a:r>
            <a:r>
              <a:rPr sz="1500" dirty="0">
                <a:solidFill>
                  <a:srgbClr val="364153"/>
                </a:solidFill>
                <a:latin typeface="Segoe UI"/>
              </a:rPr>
              <a:t> social : </a:t>
            </a:r>
            <a:r>
              <a:rPr sz="1500" dirty="0" err="1">
                <a:solidFill>
                  <a:srgbClr val="364153"/>
                </a:solidFill>
                <a:latin typeface="Segoe UI"/>
              </a:rPr>
              <a:t>Créteil</a:t>
            </a:r>
            <a:r>
              <a:rPr sz="1500" dirty="0">
                <a:solidFill>
                  <a:srgbClr val="364153"/>
                </a:solidFill>
                <a:latin typeface="Segoe UI"/>
              </a:rPr>
              <a:t>, France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28700" y="5173414"/>
            <a:ext cx="10591800" cy="2381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6250"/>
              </a:lnSpc>
            </a:pPr>
            <a:r>
              <a:rPr sz="1500" dirty="0">
                <a:solidFill>
                  <a:srgbClr val="364153"/>
                </a:solidFill>
                <a:latin typeface="Segoe UI"/>
              </a:rPr>
              <a:t>Bureau </a:t>
            </a:r>
            <a:r>
              <a:rPr sz="1500" dirty="0" err="1">
                <a:solidFill>
                  <a:srgbClr val="364153"/>
                </a:solidFill>
                <a:latin typeface="Segoe UI"/>
              </a:rPr>
              <a:t>Tunisie</a:t>
            </a:r>
            <a:r>
              <a:rPr sz="1500" dirty="0">
                <a:solidFill>
                  <a:srgbClr val="364153"/>
                </a:solidFill>
                <a:latin typeface="Segoe UI"/>
              </a:rPr>
              <a:t> : Djerba, </a:t>
            </a:r>
            <a:r>
              <a:rPr sz="1500" dirty="0" err="1">
                <a:solidFill>
                  <a:srgbClr val="364153"/>
                </a:solidFill>
                <a:latin typeface="Segoe UI"/>
              </a:rPr>
              <a:t>Houmt</a:t>
            </a:r>
            <a:r>
              <a:rPr sz="1500" dirty="0">
                <a:solidFill>
                  <a:srgbClr val="364153"/>
                </a:solidFill>
                <a:latin typeface="Segoe UI"/>
              </a:rPr>
              <a:t> Souk, 19 rue </a:t>
            </a:r>
            <a:r>
              <a:rPr sz="1500" dirty="0" err="1">
                <a:solidFill>
                  <a:srgbClr val="364153"/>
                </a:solidFill>
                <a:latin typeface="Segoe UI"/>
              </a:rPr>
              <a:t>Boumessouer</a:t>
            </a:r>
            <a:endParaRPr sz="1500" dirty="0">
              <a:solidFill>
                <a:srgbClr val="364153"/>
              </a:solidFill>
              <a:latin typeface="Segoe UI"/>
            </a:endParaRPr>
          </a:p>
        </p:txBody>
      </p:sp>
      <p:sp>
        <p:nvSpPr>
          <p:cNvPr id="15" name="Oval 14"/>
          <p:cNvSpPr/>
          <p:nvPr/>
        </p:nvSpPr>
        <p:spPr>
          <a:xfrm>
            <a:off x="666750" y="5792539"/>
            <a:ext cx="57150" cy="57150"/>
          </a:xfrm>
          <a:prstGeom prst="ellipse">
            <a:avLst/>
          </a:prstGeom>
          <a:solidFill>
            <a:srgbClr val="004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914400" y="5697289"/>
            <a:ext cx="5467350" cy="571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6250"/>
              </a:lnSpc>
            </a:pPr>
            <a:r>
              <a:rPr sz="1800" b="1">
                <a:solidFill>
                  <a:srgbClr val="000000"/>
                </a:solidFill>
                <a:latin typeface="Segoe UI"/>
              </a:rPr>
              <a:t>Approche nearshore :</a:t>
            </a:r>
            <a:r>
              <a:rPr sz="1800">
                <a:solidFill>
                  <a:srgbClr val="000000"/>
                </a:solidFill>
                <a:latin typeface="Segoe UI"/>
              </a:rPr>
              <a:t> proximité géographique et culturelle avec des coûts optimisés</a:t>
            </a:r>
          </a:p>
        </p:txBody>
      </p:sp>
      <p:pic>
        <p:nvPicPr>
          <p:cNvPr id="17" name="Picture 16" descr="temp_slide_0_el_1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08450" y="2084425"/>
            <a:ext cx="5452098" cy="3198736"/>
          </a:xfrm>
          <a:prstGeom prst="rect">
            <a:avLst/>
          </a:prstGeom>
        </p:spPr>
      </p:pic>
      <p:pic>
        <p:nvPicPr>
          <p:cNvPr id="18" name="Picture 17" descr="temp_slide_0_el_15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67500" y="2207418"/>
            <a:ext cx="5334000" cy="2952750"/>
          </a:xfrm>
          <a:prstGeom prst="rect">
            <a:avLst/>
          </a:prstGeom>
        </p:spPr>
      </p:pic>
      <p:pic>
        <p:nvPicPr>
          <p:cNvPr id="19" name="Picture 18" descr="temp_slide_0_el_16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58025" y="3026568"/>
            <a:ext cx="4552950" cy="1314450"/>
          </a:xfrm>
          <a:prstGeom prst="rect">
            <a:avLst/>
          </a:prstGeom>
        </p:spPr>
      </p:pic>
      <p:sp>
        <p:nvSpPr>
          <p:cNvPr id="6" name="ZoneTexte 5">
            <a:extLst>
              <a:ext uri="{FF2B5EF4-FFF2-40B4-BE49-F238E27FC236}">
                <a16:creationId xmlns:a16="http://schemas.microsoft.com/office/drawing/2014/main" id="{1B9DDF3E-812D-7242-8473-0E8F114671E6}"/>
              </a:ext>
            </a:extLst>
          </p:cNvPr>
          <p:cNvSpPr txBox="1"/>
          <p:nvPr/>
        </p:nvSpPr>
        <p:spPr>
          <a:xfrm>
            <a:off x="4218625" y="111196"/>
            <a:ext cx="6907160" cy="3648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6250"/>
              </a:lnSpc>
            </a:pPr>
            <a:r>
              <a:rPr lang="en-US" sz="1800" b="1" dirty="0" err="1">
                <a:solidFill>
                  <a:srgbClr val="000000"/>
                </a:solidFill>
                <a:latin typeface="Segoe UI"/>
              </a:rPr>
              <a:t>Présentation</a:t>
            </a:r>
            <a:r>
              <a:rPr lang="en-US" sz="1800" b="1" dirty="0">
                <a:solidFill>
                  <a:srgbClr val="000000"/>
                </a:solidFill>
                <a:latin typeface="Segoe UI"/>
              </a:rPr>
              <a:t> de </a:t>
            </a:r>
            <a:r>
              <a:rPr lang="en-US" sz="1800" b="1" dirty="0" err="1">
                <a:solidFill>
                  <a:srgbClr val="000000"/>
                </a:solidFill>
                <a:latin typeface="Segoe UI"/>
              </a:rPr>
              <a:t>l'Entreprise</a:t>
            </a:r>
            <a:endParaRPr lang="en-US" sz="1800" b="1" dirty="0">
              <a:solidFill>
                <a:srgbClr val="000000"/>
              </a:solidFill>
              <a:latin typeface="Segoe UI"/>
            </a:endParaRPr>
          </a:p>
        </p:txBody>
      </p:sp>
      <p:sp>
        <p:nvSpPr>
          <p:cNvPr id="20" name="Espace réservé du numéro de diapositive 19">
            <a:extLst>
              <a:ext uri="{FF2B5EF4-FFF2-40B4-BE49-F238E27FC236}">
                <a16:creationId xmlns:a16="http://schemas.microsoft.com/office/drawing/2014/main" id="{06E7F2CA-1B83-D7B0-90CE-76582F925A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3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" name="Picture 1" descr="temp_bg_slide_0.png">
            <a:extLst>
              <a:ext uri="{FF2B5EF4-FFF2-40B4-BE49-F238E27FC236}">
                <a16:creationId xmlns:a16="http://schemas.microsoft.com/office/drawing/2014/main" id="{E46601AF-311E-A9F1-0B17-31EEAD96542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extBox 1"/>
          <p:cNvSpPr txBox="1"/>
          <p:nvPr/>
        </p:nvSpPr>
        <p:spPr>
          <a:xfrm>
            <a:off x="476250" y="190500"/>
            <a:ext cx="685800" cy="2143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7500"/>
              </a:lnSpc>
            </a:pPr>
            <a:r>
              <a:rPr sz="1125" dirty="0">
                <a:solidFill>
                  <a:srgbClr val="000000"/>
                </a:solidFill>
                <a:latin typeface="Segoe UI"/>
              </a:rPr>
              <a:t>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96450" y="190500"/>
            <a:ext cx="4038600" cy="2143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7500"/>
              </a:lnSpc>
            </a:pPr>
            <a:r>
              <a:rPr sz="1125" dirty="0">
                <a:solidFill>
                  <a:srgbClr val="000000"/>
                </a:solidFill>
                <a:latin typeface="Segoe UI"/>
              </a:rPr>
              <a:t>Stage SOLVERS Technologies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6250" y="700087"/>
            <a:ext cx="11811000" cy="87987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3500"/>
              </a:lnSpc>
            </a:pPr>
            <a:r>
              <a:rPr sz="3150" b="1" dirty="0">
                <a:solidFill>
                  <a:srgbClr val="000000"/>
                </a:solidFill>
                <a:latin typeface="Segoe UI"/>
              </a:rPr>
              <a:t>SOLVERS —</a:t>
            </a:r>
          </a:p>
          <a:p>
            <a:pPr algn="l">
              <a:lnSpc>
                <a:spcPct val="93500"/>
              </a:lnSpc>
            </a:pPr>
            <a:r>
              <a:rPr sz="3150" b="1" dirty="0">
                <a:solidFill>
                  <a:srgbClr val="000000"/>
                </a:solidFill>
                <a:latin typeface="Segoe UI"/>
              </a:rPr>
              <a:t>Services &amp; Expertise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76250" y="1808559"/>
            <a:ext cx="11811000" cy="2571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7500"/>
              </a:lnSpc>
            </a:pPr>
            <a:r>
              <a:rPr sz="1350" b="1">
                <a:solidFill>
                  <a:srgbClr val="0048FF"/>
                </a:solidFill>
                <a:latin typeface="Segoe UI"/>
              </a:rPr>
              <a:t>Services Principaux</a:t>
            </a:r>
          </a:p>
        </p:txBody>
      </p:sp>
      <p:sp>
        <p:nvSpPr>
          <p:cNvPr id="7" name="Oval 6"/>
          <p:cNvSpPr/>
          <p:nvPr/>
        </p:nvSpPr>
        <p:spPr>
          <a:xfrm>
            <a:off x="476250" y="2332434"/>
            <a:ext cx="57150" cy="57150"/>
          </a:xfrm>
          <a:prstGeom prst="ellipse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76275" y="2237184"/>
            <a:ext cx="6686550" cy="2143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6250"/>
              </a:lnSpc>
            </a:pPr>
            <a:r>
              <a:rPr sz="1350">
                <a:solidFill>
                  <a:srgbClr val="000000"/>
                </a:solidFill>
                <a:latin typeface="Segoe UI"/>
              </a:rPr>
              <a:t>Développement de logiciels personnalisés</a:t>
            </a:r>
          </a:p>
        </p:txBody>
      </p:sp>
      <p:sp>
        <p:nvSpPr>
          <p:cNvPr id="9" name="Oval 8"/>
          <p:cNvSpPr/>
          <p:nvPr/>
        </p:nvSpPr>
        <p:spPr>
          <a:xfrm>
            <a:off x="476250" y="2680096"/>
            <a:ext cx="57150" cy="57150"/>
          </a:xfrm>
          <a:prstGeom prst="ellipse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76275" y="2584846"/>
            <a:ext cx="9963150" cy="2143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6250"/>
              </a:lnSpc>
            </a:pPr>
            <a:r>
              <a:rPr sz="1350">
                <a:solidFill>
                  <a:srgbClr val="000000"/>
                </a:solidFill>
                <a:latin typeface="Segoe UI"/>
              </a:rPr>
              <a:t>Développement d'applications web &amp; mobile (multiplateforme)</a:t>
            </a:r>
          </a:p>
        </p:txBody>
      </p:sp>
      <p:sp>
        <p:nvSpPr>
          <p:cNvPr id="11" name="Oval 10"/>
          <p:cNvSpPr/>
          <p:nvPr/>
        </p:nvSpPr>
        <p:spPr>
          <a:xfrm>
            <a:off x="476250" y="3027759"/>
            <a:ext cx="57150" cy="57150"/>
          </a:xfrm>
          <a:prstGeom prst="ellipse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76275" y="2932509"/>
            <a:ext cx="2133600" cy="2143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6250"/>
              </a:lnSpc>
            </a:pPr>
            <a:r>
              <a:rPr sz="1350">
                <a:solidFill>
                  <a:srgbClr val="000000"/>
                </a:solidFill>
                <a:latin typeface="Segoe UI"/>
              </a:rPr>
              <a:t>Design UX/UI</a:t>
            </a:r>
          </a:p>
        </p:txBody>
      </p:sp>
      <p:sp>
        <p:nvSpPr>
          <p:cNvPr id="13" name="Oval 12"/>
          <p:cNvSpPr/>
          <p:nvPr/>
        </p:nvSpPr>
        <p:spPr>
          <a:xfrm>
            <a:off x="476250" y="3375421"/>
            <a:ext cx="57150" cy="57150"/>
          </a:xfrm>
          <a:prstGeom prst="ellipse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76275" y="3280171"/>
            <a:ext cx="5676900" cy="2143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6250"/>
              </a:lnSpc>
            </a:pPr>
            <a:r>
              <a:rPr sz="1350">
                <a:solidFill>
                  <a:srgbClr val="000000"/>
                </a:solidFill>
                <a:latin typeface="Segoe UI"/>
              </a:rPr>
              <a:t>Équipes de développement dédiées</a:t>
            </a:r>
          </a:p>
        </p:txBody>
      </p:sp>
      <p:sp>
        <p:nvSpPr>
          <p:cNvPr id="15" name="Oval 14"/>
          <p:cNvSpPr/>
          <p:nvPr/>
        </p:nvSpPr>
        <p:spPr>
          <a:xfrm>
            <a:off x="476250" y="3723084"/>
            <a:ext cx="57150" cy="57150"/>
          </a:xfrm>
          <a:prstGeom prst="ellipse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76275" y="3627834"/>
            <a:ext cx="6286500" cy="2143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6250"/>
              </a:lnSpc>
            </a:pPr>
            <a:r>
              <a:rPr sz="1350">
                <a:solidFill>
                  <a:srgbClr val="000000"/>
                </a:solidFill>
                <a:latin typeface="Segoe UI"/>
              </a:rPr>
              <a:t>Gestion de projet, tests et maintenance</a:t>
            </a:r>
          </a:p>
        </p:txBody>
      </p:sp>
      <p:sp>
        <p:nvSpPr>
          <p:cNvPr id="17" name="Oval 16"/>
          <p:cNvSpPr/>
          <p:nvPr/>
        </p:nvSpPr>
        <p:spPr>
          <a:xfrm>
            <a:off x="476250" y="4070746"/>
            <a:ext cx="57150" cy="57150"/>
          </a:xfrm>
          <a:prstGeom prst="ellipse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76275" y="3975496"/>
            <a:ext cx="6858000" cy="2143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6250"/>
              </a:lnSpc>
            </a:pPr>
            <a:r>
              <a:rPr sz="1350">
                <a:solidFill>
                  <a:srgbClr val="000000"/>
                </a:solidFill>
                <a:latin typeface="Segoe UI"/>
              </a:rPr>
              <a:t>Automatisation des processus d'entreprise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953250" y="890587"/>
            <a:ext cx="9525000" cy="2571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7500"/>
              </a:lnSpc>
            </a:pPr>
            <a:r>
              <a:rPr sz="1350" b="1">
                <a:solidFill>
                  <a:srgbClr val="0048FF"/>
                </a:solidFill>
                <a:latin typeface="Segoe UI"/>
              </a:rPr>
              <a:t>Expertise Technologique</a:t>
            </a:r>
          </a:p>
        </p:txBody>
      </p:sp>
      <p:pic>
        <p:nvPicPr>
          <p:cNvPr id="20" name="Picture 19" descr="temp_slide_0_el_1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67500" y="1033462"/>
            <a:ext cx="5334000" cy="3638550"/>
          </a:xfrm>
          <a:prstGeom prst="rect">
            <a:avLst/>
          </a:prstGeom>
        </p:spPr>
      </p:pic>
      <p:pic>
        <p:nvPicPr>
          <p:cNvPr id="21" name="Picture 20" descr="temp_slide_0_el_19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848975" y="852487"/>
            <a:ext cx="1333500" cy="1333500"/>
          </a:xfrm>
          <a:prstGeom prst="rect">
            <a:avLst/>
          </a:prstGeom>
        </p:spPr>
      </p:pic>
      <p:pic>
        <p:nvPicPr>
          <p:cNvPr id="22" name="Picture 21" descr="temp_slide_0_el_20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34250" y="1233487"/>
            <a:ext cx="4000500" cy="3238500"/>
          </a:xfrm>
          <a:prstGeom prst="rect">
            <a:avLst/>
          </a:prstGeom>
        </p:spPr>
      </p:pic>
      <p:pic>
        <p:nvPicPr>
          <p:cNvPr id="23" name="Picture 22" descr="temp_slide_0_el_21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67500" y="4291012"/>
            <a:ext cx="1438275" cy="933450"/>
          </a:xfrm>
          <a:prstGeom prst="rect">
            <a:avLst/>
          </a:prstGeom>
        </p:spPr>
      </p:pic>
      <p:pic>
        <p:nvPicPr>
          <p:cNvPr id="24" name="Picture 23" descr="temp_slide_0_el_22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629525" y="4291012"/>
            <a:ext cx="1276350" cy="933450"/>
          </a:xfrm>
          <a:prstGeom prst="rect">
            <a:avLst/>
          </a:prstGeom>
        </p:spPr>
      </p:pic>
      <p:pic>
        <p:nvPicPr>
          <p:cNvPr id="25" name="Picture 24" descr="temp_slide_0_el_23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429625" y="4291012"/>
            <a:ext cx="1343025" cy="933450"/>
          </a:xfrm>
          <a:prstGeom prst="rect">
            <a:avLst/>
          </a:prstGeom>
        </p:spPr>
      </p:pic>
      <p:pic>
        <p:nvPicPr>
          <p:cNvPr id="26" name="Picture 25" descr="temp_slide_0_el_24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296400" y="4291012"/>
            <a:ext cx="1714500" cy="933450"/>
          </a:xfrm>
          <a:prstGeom prst="rect">
            <a:avLst/>
          </a:prstGeom>
        </p:spPr>
      </p:pic>
      <p:pic>
        <p:nvPicPr>
          <p:cNvPr id="27" name="Picture 26" descr="temp_slide_0_el_25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534650" y="4291012"/>
            <a:ext cx="1390650" cy="933450"/>
          </a:xfrm>
          <a:prstGeom prst="rect">
            <a:avLst/>
          </a:prstGeom>
        </p:spPr>
      </p:pic>
      <p:pic>
        <p:nvPicPr>
          <p:cNvPr id="28" name="Picture 27" descr="temp_slide_0_el_26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667500" y="4748212"/>
            <a:ext cx="1504950" cy="933450"/>
          </a:xfrm>
          <a:prstGeom prst="rect">
            <a:avLst/>
          </a:prstGeom>
        </p:spPr>
      </p:pic>
      <p:pic>
        <p:nvPicPr>
          <p:cNvPr id="29" name="Picture 28" descr="temp_slide_0_el_27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696200" y="4748212"/>
            <a:ext cx="1647825" cy="933450"/>
          </a:xfrm>
          <a:prstGeom prst="rect">
            <a:avLst/>
          </a:prstGeom>
        </p:spPr>
      </p:pic>
      <p:pic>
        <p:nvPicPr>
          <p:cNvPr id="30" name="Picture 29" descr="temp_slide_0_el_28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867775" y="4748212"/>
            <a:ext cx="1695450" cy="933450"/>
          </a:xfrm>
          <a:prstGeom prst="rect">
            <a:avLst/>
          </a:prstGeom>
        </p:spPr>
      </p:pic>
      <p:pic>
        <p:nvPicPr>
          <p:cNvPr id="31" name="Picture 30" descr="temp_slide_0_el_29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0086975" y="4748212"/>
            <a:ext cx="1504950" cy="933450"/>
          </a:xfrm>
          <a:prstGeom prst="rect">
            <a:avLst/>
          </a:prstGeom>
        </p:spPr>
      </p:pic>
      <p:pic>
        <p:nvPicPr>
          <p:cNvPr id="32" name="Picture 31" descr="temp_slide_0_el_30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667500" y="5205412"/>
            <a:ext cx="1819275" cy="933450"/>
          </a:xfrm>
          <a:prstGeom prst="rect">
            <a:avLst/>
          </a:prstGeom>
        </p:spPr>
      </p:pic>
      <p:pic>
        <p:nvPicPr>
          <p:cNvPr id="33" name="Picture 32" descr="temp_slide_0_el_31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8010525" y="5205412"/>
            <a:ext cx="1285875" cy="933450"/>
          </a:xfrm>
          <a:prstGeom prst="rect">
            <a:avLst/>
          </a:prstGeom>
        </p:spPr>
      </p:pic>
      <p:pic>
        <p:nvPicPr>
          <p:cNvPr id="34" name="Picture 33" descr="temp_slide_0_el_32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8820150" y="5205412"/>
            <a:ext cx="1181100" cy="933450"/>
          </a:xfrm>
          <a:prstGeom prst="rect">
            <a:avLst/>
          </a:prstGeom>
        </p:spPr>
      </p:pic>
      <p:sp>
        <p:nvSpPr>
          <p:cNvPr id="38" name="Espace réservé du numéro de diapositive 37">
            <a:extLst>
              <a:ext uri="{FF2B5EF4-FFF2-40B4-BE49-F238E27FC236}">
                <a16:creationId xmlns:a16="http://schemas.microsoft.com/office/drawing/2014/main" id="{0A09EEBA-8DE1-1C36-CCA7-4EE220E2E6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4</a:t>
            </a:fld>
            <a:endParaRPr lang="en-US"/>
          </a:p>
        </p:txBody>
      </p:sp>
      <p:sp>
        <p:nvSpPr>
          <p:cNvPr id="39" name="ZoneTexte 38">
            <a:extLst>
              <a:ext uri="{FF2B5EF4-FFF2-40B4-BE49-F238E27FC236}">
                <a16:creationId xmlns:a16="http://schemas.microsoft.com/office/drawing/2014/main" id="{AE12F969-EC3E-36A3-FC40-69E330E5EE2E}"/>
              </a:ext>
            </a:extLst>
          </p:cNvPr>
          <p:cNvSpPr txBox="1"/>
          <p:nvPr/>
        </p:nvSpPr>
        <p:spPr>
          <a:xfrm>
            <a:off x="4218625" y="111196"/>
            <a:ext cx="6907160" cy="3648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6250"/>
              </a:lnSpc>
            </a:pPr>
            <a:r>
              <a:rPr lang="en-US" sz="1800" b="1" dirty="0" err="1">
                <a:solidFill>
                  <a:srgbClr val="000000"/>
                </a:solidFill>
                <a:latin typeface="Segoe UI"/>
              </a:rPr>
              <a:t>Présentation</a:t>
            </a:r>
            <a:r>
              <a:rPr lang="en-US" sz="1800" b="1" dirty="0">
                <a:solidFill>
                  <a:srgbClr val="000000"/>
                </a:solidFill>
                <a:latin typeface="Segoe UI"/>
              </a:rPr>
              <a:t> de </a:t>
            </a:r>
            <a:r>
              <a:rPr lang="en-US" sz="1800" b="1" dirty="0" err="1">
                <a:solidFill>
                  <a:srgbClr val="000000"/>
                </a:solidFill>
                <a:latin typeface="Segoe UI"/>
              </a:rPr>
              <a:t>l'Entreprise</a:t>
            </a:r>
            <a:endParaRPr lang="en-US" sz="1800" b="1" dirty="0">
              <a:solidFill>
                <a:srgbClr val="000000"/>
              </a:solidFill>
              <a:latin typeface="Segoe UI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temp_bg_slide_0.png">
            <a:extLst>
              <a:ext uri="{FF2B5EF4-FFF2-40B4-BE49-F238E27FC236}">
                <a16:creationId xmlns:a16="http://schemas.microsoft.com/office/drawing/2014/main" id="{0449C265-3D99-196E-3F85-6E51A64A09D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TextBox 1">
            <a:extLst>
              <a:ext uri="{FF2B5EF4-FFF2-40B4-BE49-F238E27FC236}">
                <a16:creationId xmlns:a16="http://schemas.microsoft.com/office/drawing/2014/main" id="{68A55553-8671-27DF-AACC-732EE9F9B6FC}"/>
              </a:ext>
            </a:extLst>
          </p:cNvPr>
          <p:cNvSpPr txBox="1"/>
          <p:nvPr/>
        </p:nvSpPr>
        <p:spPr>
          <a:xfrm>
            <a:off x="476250" y="190500"/>
            <a:ext cx="685800" cy="2143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7500"/>
              </a:lnSpc>
            </a:pPr>
            <a:r>
              <a:rPr sz="1125" dirty="0">
                <a:solidFill>
                  <a:srgbClr val="000000"/>
                </a:solidFill>
                <a:latin typeface="Segoe UI"/>
              </a:rPr>
              <a:t>2026</a:t>
            </a:r>
          </a:p>
        </p:txBody>
      </p:sp>
      <p:sp>
        <p:nvSpPr>
          <p:cNvPr id="6" name="TextBox 3">
            <a:extLst>
              <a:ext uri="{FF2B5EF4-FFF2-40B4-BE49-F238E27FC236}">
                <a16:creationId xmlns:a16="http://schemas.microsoft.com/office/drawing/2014/main" id="{137B4124-F245-0A8C-35F0-A81875EEF6B8}"/>
              </a:ext>
            </a:extLst>
          </p:cNvPr>
          <p:cNvSpPr txBox="1"/>
          <p:nvPr/>
        </p:nvSpPr>
        <p:spPr>
          <a:xfrm>
            <a:off x="9696450" y="190500"/>
            <a:ext cx="4038600" cy="2143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7500"/>
              </a:lnSpc>
            </a:pPr>
            <a:r>
              <a:rPr sz="1125" dirty="0">
                <a:solidFill>
                  <a:srgbClr val="000000"/>
                </a:solidFill>
                <a:latin typeface="Segoe UI"/>
              </a:rPr>
              <a:t>Stage SOLVERS Technologies</a:t>
            </a:r>
          </a:p>
        </p:txBody>
      </p:sp>
      <p:pic>
        <p:nvPicPr>
          <p:cNvPr id="8" name="Image 7">
            <a:extLst>
              <a:ext uri="{FF2B5EF4-FFF2-40B4-BE49-F238E27FC236}">
                <a16:creationId xmlns:a16="http://schemas.microsoft.com/office/drawing/2014/main" id="{199FF5A5-40A1-24B9-076B-EF25D14E202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28975" y="1645982"/>
            <a:ext cx="5734050" cy="4667250"/>
          </a:xfrm>
          <a:prstGeom prst="rect">
            <a:avLst/>
          </a:prstGeom>
        </p:spPr>
      </p:pic>
      <p:sp>
        <p:nvSpPr>
          <p:cNvPr id="11" name="TextBox 4">
            <a:extLst>
              <a:ext uri="{FF2B5EF4-FFF2-40B4-BE49-F238E27FC236}">
                <a16:creationId xmlns:a16="http://schemas.microsoft.com/office/drawing/2014/main" id="{EC1508A2-DB72-3ABC-B729-53A1157D8620}"/>
              </a:ext>
            </a:extLst>
          </p:cNvPr>
          <p:cNvSpPr txBox="1"/>
          <p:nvPr/>
        </p:nvSpPr>
        <p:spPr>
          <a:xfrm>
            <a:off x="476250" y="700087"/>
            <a:ext cx="11811000" cy="45563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93500"/>
              </a:lnSpc>
            </a:pPr>
            <a:r>
              <a:rPr lang="fr-FR" sz="3150" b="1" dirty="0">
                <a:solidFill>
                  <a:srgbClr val="000000"/>
                </a:solidFill>
                <a:latin typeface="Segoe UI"/>
              </a:rPr>
              <a:t>Organigramme de l’Entreprise</a:t>
            </a:r>
            <a:endParaRPr sz="3150" b="1" dirty="0">
              <a:solidFill>
                <a:srgbClr val="000000"/>
              </a:solidFill>
              <a:latin typeface="Segoe UI"/>
            </a:endParaRPr>
          </a:p>
        </p:txBody>
      </p:sp>
      <p:pic>
        <p:nvPicPr>
          <p:cNvPr id="12" name="Picture 14" descr="temp_slide_0_el_13.png">
            <a:extLst>
              <a:ext uri="{FF2B5EF4-FFF2-40B4-BE49-F238E27FC236}">
                <a16:creationId xmlns:a16="http://schemas.microsoft.com/office/drawing/2014/main" id="{5D8046D6-1687-2363-A42E-A8250620312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33725" y="1504131"/>
            <a:ext cx="1524000" cy="1524000"/>
          </a:xfrm>
          <a:prstGeom prst="rect">
            <a:avLst/>
          </a:prstGeom>
        </p:spPr>
      </p:pic>
      <p:pic>
        <p:nvPicPr>
          <p:cNvPr id="13" name="Picture 14" descr="temp_slide_0_el_13.png">
            <a:extLst>
              <a:ext uri="{FF2B5EF4-FFF2-40B4-BE49-F238E27FC236}">
                <a16:creationId xmlns:a16="http://schemas.microsoft.com/office/drawing/2014/main" id="{53A89275-22E4-332F-7EA3-F7F32D91889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10800000">
            <a:off x="7534275" y="4927958"/>
            <a:ext cx="1524000" cy="1524000"/>
          </a:xfrm>
          <a:prstGeom prst="rect">
            <a:avLst/>
          </a:prstGeom>
        </p:spPr>
      </p:pic>
      <p:sp>
        <p:nvSpPr>
          <p:cNvPr id="14" name="Espace réservé du numéro de diapositive 13">
            <a:extLst>
              <a:ext uri="{FF2B5EF4-FFF2-40B4-BE49-F238E27FC236}">
                <a16:creationId xmlns:a16="http://schemas.microsoft.com/office/drawing/2014/main" id="{A87AEA9E-08E2-B0A8-1707-97694E60DE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5</a:t>
            </a:fld>
            <a:endParaRPr lang="en-US"/>
          </a:p>
        </p:txBody>
      </p:sp>
      <p:sp>
        <p:nvSpPr>
          <p:cNvPr id="15" name="ZoneTexte 14">
            <a:extLst>
              <a:ext uri="{FF2B5EF4-FFF2-40B4-BE49-F238E27FC236}">
                <a16:creationId xmlns:a16="http://schemas.microsoft.com/office/drawing/2014/main" id="{C6BE65DF-163B-4963-D8D5-6EE0B81A2CC0}"/>
              </a:ext>
            </a:extLst>
          </p:cNvPr>
          <p:cNvSpPr txBox="1"/>
          <p:nvPr/>
        </p:nvSpPr>
        <p:spPr>
          <a:xfrm>
            <a:off x="4218625" y="111196"/>
            <a:ext cx="6907160" cy="3648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6250"/>
              </a:lnSpc>
            </a:pPr>
            <a:r>
              <a:rPr lang="en-US" sz="1800" b="1" dirty="0" err="1">
                <a:solidFill>
                  <a:srgbClr val="000000"/>
                </a:solidFill>
                <a:latin typeface="Segoe UI"/>
              </a:rPr>
              <a:t>Présentation</a:t>
            </a:r>
            <a:r>
              <a:rPr lang="en-US" sz="1800" b="1" dirty="0">
                <a:solidFill>
                  <a:srgbClr val="000000"/>
                </a:solidFill>
                <a:latin typeface="Segoe UI"/>
              </a:rPr>
              <a:t> de </a:t>
            </a:r>
            <a:r>
              <a:rPr lang="en-US" sz="1800" b="1" dirty="0" err="1">
                <a:solidFill>
                  <a:srgbClr val="000000"/>
                </a:solidFill>
                <a:latin typeface="Segoe UI"/>
              </a:rPr>
              <a:t>l'Entreprise</a:t>
            </a:r>
            <a:endParaRPr lang="en-US" sz="1800" b="1" dirty="0">
              <a:solidFill>
                <a:srgbClr val="000000"/>
              </a:solidFill>
              <a:latin typeface="Segoe UI"/>
            </a:endParaRPr>
          </a:p>
        </p:txBody>
      </p:sp>
    </p:spTree>
    <p:extLst>
      <p:ext uri="{BB962C8B-B14F-4D97-AF65-F5344CB8AC3E}">
        <p14:creationId xmlns:p14="http://schemas.microsoft.com/office/powerpoint/2010/main" val="428521987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" name="Picture 1" descr="temp_bg_slide_0.png">
            <a:extLst>
              <a:ext uri="{FF2B5EF4-FFF2-40B4-BE49-F238E27FC236}">
                <a16:creationId xmlns:a16="http://schemas.microsoft.com/office/drawing/2014/main" id="{5F2B49F3-95D1-7B97-9C13-22115784C53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extBox 1"/>
          <p:cNvSpPr txBox="1"/>
          <p:nvPr/>
        </p:nvSpPr>
        <p:spPr>
          <a:xfrm>
            <a:off x="476250" y="142875"/>
            <a:ext cx="685800" cy="2143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7500"/>
              </a:lnSpc>
            </a:pPr>
            <a:r>
              <a:rPr sz="1125" dirty="0">
                <a:solidFill>
                  <a:srgbClr val="000000"/>
                </a:solidFill>
                <a:latin typeface="Segoe UI"/>
              </a:rPr>
              <a:t>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96450" y="142875"/>
            <a:ext cx="4038600" cy="2143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7500"/>
              </a:lnSpc>
            </a:pPr>
            <a:r>
              <a:rPr sz="1125" dirty="0">
                <a:solidFill>
                  <a:srgbClr val="000000"/>
                </a:solidFill>
                <a:latin typeface="Segoe UI"/>
              </a:rPr>
              <a:t>Stage SOLVERS Technologies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6250" y="604837"/>
            <a:ext cx="22479000" cy="4762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6250"/>
              </a:lnSpc>
            </a:pPr>
            <a:r>
              <a:rPr sz="3000" b="1">
                <a:solidFill>
                  <a:srgbClr val="000000"/>
                </a:solidFill>
                <a:latin typeface="Segoe UI"/>
              </a:rPr>
              <a:t>Contexte du Stage &amp; Mission du Projet</a:t>
            </a:r>
          </a:p>
        </p:txBody>
      </p:sp>
      <p:sp>
        <p:nvSpPr>
          <p:cNvPr id="6" name="Oval 5"/>
          <p:cNvSpPr/>
          <p:nvPr/>
        </p:nvSpPr>
        <p:spPr>
          <a:xfrm>
            <a:off x="476250" y="1366837"/>
            <a:ext cx="57150" cy="57150"/>
          </a:xfrm>
          <a:prstGeom prst="ellipse">
            <a:avLst/>
          </a:prstGeom>
          <a:solidFill>
            <a:srgbClr val="004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85800" y="1271587"/>
            <a:ext cx="5410200" cy="4953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8125"/>
              </a:lnSpc>
            </a:pPr>
            <a:r>
              <a:rPr sz="1200" b="1" dirty="0">
                <a:solidFill>
                  <a:srgbClr val="000000"/>
                </a:solidFill>
                <a:latin typeface="Segoe UI"/>
              </a:rPr>
              <a:t>Objectif du stage :</a:t>
            </a:r>
            <a:r>
              <a:rPr sz="1200" dirty="0">
                <a:solidFill>
                  <a:srgbClr val="000000"/>
                </a:solidFill>
                <a:latin typeface="Segoe UI"/>
              </a:rPr>
              <a:t> </a:t>
            </a:r>
            <a:r>
              <a:rPr sz="1200" dirty="0" err="1">
                <a:solidFill>
                  <a:srgbClr val="000000"/>
                </a:solidFill>
                <a:latin typeface="Segoe UI"/>
              </a:rPr>
              <a:t>développer</a:t>
            </a:r>
            <a:r>
              <a:rPr sz="1200" dirty="0">
                <a:solidFill>
                  <a:srgbClr val="000000"/>
                </a:solidFill>
                <a:latin typeface="Segoe UI"/>
              </a:rPr>
              <a:t> des </a:t>
            </a:r>
            <a:r>
              <a:rPr sz="1200" dirty="0" err="1">
                <a:solidFill>
                  <a:srgbClr val="000000"/>
                </a:solidFill>
                <a:latin typeface="Segoe UI"/>
              </a:rPr>
              <a:t>compétences</a:t>
            </a:r>
            <a:r>
              <a:rPr sz="1200" dirty="0">
                <a:solidFill>
                  <a:srgbClr val="000000"/>
                </a:solidFill>
                <a:latin typeface="Segoe UI"/>
              </a:rPr>
              <a:t> pratiques </a:t>
            </a:r>
            <a:r>
              <a:rPr sz="1200" dirty="0" err="1">
                <a:solidFill>
                  <a:srgbClr val="000000"/>
                </a:solidFill>
                <a:latin typeface="Segoe UI"/>
              </a:rPr>
              <a:t>en</a:t>
            </a:r>
            <a:r>
              <a:rPr sz="1200" dirty="0">
                <a:solidFill>
                  <a:srgbClr val="000000"/>
                </a:solidFill>
                <a:latin typeface="Segoe UI"/>
              </a:rPr>
              <a:t> </a:t>
            </a:r>
            <a:r>
              <a:rPr sz="1200" dirty="0" err="1">
                <a:solidFill>
                  <a:srgbClr val="000000"/>
                </a:solidFill>
                <a:latin typeface="Segoe UI"/>
              </a:rPr>
              <a:t>développement</a:t>
            </a:r>
            <a:r>
              <a:rPr sz="1200" dirty="0">
                <a:solidFill>
                  <a:srgbClr val="000000"/>
                </a:solidFill>
                <a:latin typeface="Segoe UI"/>
              </a:rPr>
              <a:t> web et </a:t>
            </a:r>
            <a:r>
              <a:rPr sz="1200" dirty="0" err="1">
                <a:solidFill>
                  <a:srgbClr val="000000"/>
                </a:solidFill>
                <a:latin typeface="Segoe UI"/>
              </a:rPr>
              <a:t>découvrir</a:t>
            </a:r>
            <a:r>
              <a:rPr sz="1200" dirty="0">
                <a:solidFill>
                  <a:srgbClr val="000000"/>
                </a:solidFill>
                <a:latin typeface="Segoe UI"/>
              </a:rPr>
              <a:t> les technologies </a:t>
            </a:r>
            <a:r>
              <a:rPr sz="1200" dirty="0" err="1">
                <a:solidFill>
                  <a:srgbClr val="000000"/>
                </a:solidFill>
                <a:latin typeface="Segoe UI"/>
              </a:rPr>
              <a:t>récentes</a:t>
            </a:r>
            <a:endParaRPr sz="1200" dirty="0">
              <a:solidFill>
                <a:srgbClr val="000000"/>
              </a:solidFill>
              <a:latin typeface="Segoe UI"/>
            </a:endParaRPr>
          </a:p>
        </p:txBody>
      </p:sp>
      <p:sp>
        <p:nvSpPr>
          <p:cNvPr id="8" name="Oval 7"/>
          <p:cNvSpPr/>
          <p:nvPr/>
        </p:nvSpPr>
        <p:spPr>
          <a:xfrm>
            <a:off x="476250" y="1976437"/>
            <a:ext cx="57150" cy="57150"/>
          </a:xfrm>
          <a:prstGeom prst="ellipse">
            <a:avLst/>
          </a:prstGeom>
          <a:solidFill>
            <a:srgbClr val="004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85800" y="1881187"/>
            <a:ext cx="6800850" cy="247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8125"/>
              </a:lnSpc>
            </a:pPr>
            <a:r>
              <a:rPr sz="1200" b="1">
                <a:solidFill>
                  <a:srgbClr val="000000"/>
                </a:solidFill>
                <a:latin typeface="Segoe UI"/>
              </a:rPr>
              <a:t>Durée :</a:t>
            </a:r>
            <a:r>
              <a:rPr sz="1200">
                <a:solidFill>
                  <a:srgbClr val="000000"/>
                </a:solidFill>
                <a:latin typeface="Segoe UI"/>
              </a:rPr>
              <a:t> 4 semaines (05 Jan 2026 → 31 Jan 2026)</a:t>
            </a:r>
          </a:p>
        </p:txBody>
      </p:sp>
      <p:sp>
        <p:nvSpPr>
          <p:cNvPr id="10" name="Rectangle 9"/>
          <p:cNvSpPr/>
          <p:nvPr/>
        </p:nvSpPr>
        <p:spPr>
          <a:xfrm>
            <a:off x="476250" y="2300287"/>
            <a:ext cx="5619750" cy="1223962"/>
          </a:xfrm>
          <a:prstGeom prst="rect">
            <a:avLst/>
          </a:prstGeom>
          <a:solidFill>
            <a:srgbClr val="004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76250" y="2300287"/>
            <a:ext cx="47625" cy="1223962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66750" y="2490787"/>
            <a:ext cx="104775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7500"/>
              </a:lnSpc>
            </a:pPr>
            <a:r>
              <a:rPr sz="1200" b="1">
                <a:solidFill>
                  <a:srgbClr val="FFFFFF"/>
                </a:solidFill>
                <a:latin typeface="Segoe UI"/>
              </a:rPr>
              <a:t>Mission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6750" y="2757487"/>
            <a:ext cx="5238750" cy="57626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6875"/>
              </a:lnSpc>
            </a:pPr>
            <a:r>
              <a:rPr sz="1650" b="1">
                <a:solidFill>
                  <a:srgbClr val="FFFFFF"/>
                </a:solidFill>
                <a:latin typeface="Segoe UI"/>
              </a:rPr>
              <a:t>Développer une application web qui facilite la gestion des stocks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76250" y="3771900"/>
            <a:ext cx="1352550" cy="314325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7143750" y="1557337"/>
            <a:ext cx="4762500" cy="238125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7" name="Picture 26" descr="temp_slide_0_el_2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00750" y="2443162"/>
            <a:ext cx="1524000" cy="1524000"/>
          </a:xfrm>
          <a:prstGeom prst="rect">
            <a:avLst/>
          </a:prstGeom>
        </p:spPr>
      </p:pic>
      <p:sp>
        <p:nvSpPr>
          <p:cNvPr id="28" name="Rectangle 27"/>
          <p:cNvSpPr/>
          <p:nvPr/>
        </p:nvSpPr>
        <p:spPr>
          <a:xfrm>
            <a:off x="6477000" y="1414462"/>
            <a:ext cx="5238750" cy="2457450"/>
          </a:xfrm>
          <a:prstGeom prst="rect">
            <a:avLst/>
          </a:prstGeom>
          <a:noFill/>
          <a:ln w="381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9" name="Picture 28" descr="temp_slide_0_el_24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29350" y="1166812"/>
            <a:ext cx="5334000" cy="2952750"/>
          </a:xfrm>
          <a:prstGeom prst="rect">
            <a:avLst/>
          </a:prstGeom>
        </p:spPr>
      </p:pic>
      <p:sp>
        <p:nvSpPr>
          <p:cNvPr id="31" name="ZoneTexte 30">
            <a:extLst>
              <a:ext uri="{FF2B5EF4-FFF2-40B4-BE49-F238E27FC236}">
                <a16:creationId xmlns:a16="http://schemas.microsoft.com/office/drawing/2014/main" id="{0CB7F0E6-CA9C-0456-E964-5CBFDA1B4064}"/>
              </a:ext>
            </a:extLst>
          </p:cNvPr>
          <p:cNvSpPr txBox="1"/>
          <p:nvPr/>
        </p:nvSpPr>
        <p:spPr>
          <a:xfrm>
            <a:off x="3486779" y="65365"/>
            <a:ext cx="1151541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b="1" dirty="0" err="1">
                <a:solidFill>
                  <a:srgbClr val="000000"/>
                </a:solidFill>
                <a:latin typeface="Segoe UI"/>
              </a:rPr>
              <a:t>Contexte</a:t>
            </a:r>
            <a:r>
              <a:rPr lang="en-US" sz="1800" b="1" dirty="0">
                <a:solidFill>
                  <a:srgbClr val="000000"/>
                </a:solidFill>
                <a:latin typeface="Segoe UI"/>
              </a:rPr>
              <a:t> du Stage &amp; </a:t>
            </a:r>
            <a:r>
              <a:rPr lang="en-US" sz="1800" b="1" dirty="0" err="1">
                <a:solidFill>
                  <a:srgbClr val="000000"/>
                </a:solidFill>
                <a:latin typeface="Segoe UI"/>
              </a:rPr>
              <a:t>Problématique</a:t>
            </a:r>
            <a:endParaRPr lang="en-US" b="1" dirty="0"/>
          </a:p>
        </p:txBody>
      </p:sp>
      <p:sp>
        <p:nvSpPr>
          <p:cNvPr id="32" name="Espace réservé du numéro de diapositive 31">
            <a:extLst>
              <a:ext uri="{FF2B5EF4-FFF2-40B4-BE49-F238E27FC236}">
                <a16:creationId xmlns:a16="http://schemas.microsoft.com/office/drawing/2014/main" id="{3454CA1B-DE9B-FAC2-8216-ADC0583755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6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temp_bg_slide_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76250" y="190500"/>
            <a:ext cx="685800" cy="2143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7500"/>
              </a:lnSpc>
            </a:pPr>
            <a:r>
              <a:rPr sz="1125">
                <a:solidFill>
                  <a:srgbClr val="000000"/>
                </a:solidFill>
                <a:latin typeface="Segoe UI"/>
              </a:rPr>
              <a:t>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-5143500" y="795337"/>
            <a:ext cx="22479000" cy="762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6250"/>
              </a:lnSpc>
            </a:pPr>
            <a:r>
              <a:rPr sz="4800" b="1">
                <a:solidFill>
                  <a:srgbClr val="000000"/>
                </a:solidFill>
                <a:latin typeface="Segoe UI"/>
              </a:rPr>
              <a:t>Problématique</a:t>
            </a:r>
          </a:p>
        </p:txBody>
      </p:sp>
      <p:sp>
        <p:nvSpPr>
          <p:cNvPr id="6" name="Rectangle 5"/>
          <p:cNvSpPr/>
          <p:nvPr/>
        </p:nvSpPr>
        <p:spPr>
          <a:xfrm>
            <a:off x="476250" y="1938337"/>
            <a:ext cx="5429250" cy="2230040"/>
          </a:xfrm>
          <a:prstGeom prst="rect">
            <a:avLst/>
          </a:prstGeom>
          <a:solidFill>
            <a:srgbClr val="004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6" descr="temp_icon_slide_0_el_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5337" y="2786657"/>
            <a:ext cx="600075" cy="5334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714500" y="2542579"/>
            <a:ext cx="3905250" cy="10215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8125"/>
              </a:lnSpc>
            </a:pPr>
            <a:r>
              <a:rPr sz="1650" dirty="0" err="1">
                <a:solidFill>
                  <a:srgbClr val="FFFFFF"/>
                </a:solidFill>
                <a:latin typeface="Segoe UI"/>
              </a:rPr>
              <a:t>Besoin</a:t>
            </a:r>
            <a:r>
              <a:rPr sz="1650" dirty="0">
                <a:solidFill>
                  <a:srgbClr val="FFFFFF"/>
                </a:solidFill>
                <a:latin typeface="Segoe UI"/>
              </a:rPr>
              <a:t> </a:t>
            </a:r>
            <a:r>
              <a:rPr sz="1650" dirty="0" err="1">
                <a:solidFill>
                  <a:srgbClr val="FFFFFF"/>
                </a:solidFill>
                <a:latin typeface="Segoe UI"/>
              </a:rPr>
              <a:t>d'une</a:t>
            </a:r>
            <a:r>
              <a:rPr sz="1650" dirty="0">
                <a:solidFill>
                  <a:srgbClr val="FFFFFF"/>
                </a:solidFill>
                <a:latin typeface="Segoe UI"/>
              </a:rPr>
              <a:t> </a:t>
            </a:r>
            <a:r>
              <a:rPr sz="1650" dirty="0" err="1">
                <a:solidFill>
                  <a:srgbClr val="FFFFFF"/>
                </a:solidFill>
                <a:latin typeface="Segoe UI"/>
              </a:rPr>
              <a:t>plateforme</a:t>
            </a:r>
            <a:r>
              <a:rPr sz="1650" dirty="0">
                <a:solidFill>
                  <a:srgbClr val="FFFFFF"/>
                </a:solidFill>
                <a:latin typeface="Segoe UI"/>
              </a:rPr>
              <a:t> E-commerce </a:t>
            </a:r>
            <a:r>
              <a:rPr sz="1650" dirty="0" err="1">
                <a:solidFill>
                  <a:srgbClr val="FFFFFF"/>
                </a:solidFill>
                <a:latin typeface="Segoe UI"/>
              </a:rPr>
              <a:t>moderne</a:t>
            </a:r>
            <a:r>
              <a:rPr sz="1650" dirty="0">
                <a:solidFill>
                  <a:srgbClr val="FFFFFF"/>
                </a:solidFill>
                <a:latin typeface="Segoe UI"/>
              </a:rPr>
              <a:t> pour </a:t>
            </a:r>
            <a:r>
              <a:rPr sz="1650" dirty="0" err="1">
                <a:solidFill>
                  <a:srgbClr val="FFFFFF"/>
                </a:solidFill>
                <a:latin typeface="Segoe UI"/>
              </a:rPr>
              <a:t>gérer</a:t>
            </a:r>
            <a:r>
              <a:rPr sz="1650" dirty="0">
                <a:solidFill>
                  <a:srgbClr val="FFFFFF"/>
                </a:solidFill>
                <a:latin typeface="Segoe UI"/>
              </a:rPr>
              <a:t> </a:t>
            </a:r>
            <a:r>
              <a:rPr sz="1650" dirty="0" err="1">
                <a:solidFill>
                  <a:srgbClr val="FFFFFF"/>
                </a:solidFill>
                <a:latin typeface="Segoe UI"/>
              </a:rPr>
              <a:t>efficacement</a:t>
            </a:r>
            <a:r>
              <a:rPr sz="1650" dirty="0">
                <a:solidFill>
                  <a:srgbClr val="FFFFFF"/>
                </a:solidFill>
                <a:latin typeface="Segoe UI"/>
              </a:rPr>
              <a:t> les stocks et </a:t>
            </a:r>
            <a:r>
              <a:rPr sz="1650" dirty="0" err="1">
                <a:solidFill>
                  <a:srgbClr val="FFFFFF"/>
                </a:solidFill>
                <a:latin typeface="Segoe UI"/>
              </a:rPr>
              <a:t>commandes</a:t>
            </a:r>
            <a:endParaRPr sz="1650" dirty="0">
              <a:solidFill>
                <a:srgbClr val="FFFFFF"/>
              </a:solidFill>
              <a:latin typeface="Segoe UI"/>
            </a:endParaRPr>
          </a:p>
        </p:txBody>
      </p:sp>
      <p:pic>
        <p:nvPicPr>
          <p:cNvPr id="9" name="Picture 8" descr="temp_slide_0_el_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71950" y="2787253"/>
            <a:ext cx="2114550" cy="190500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6286500" y="1938337"/>
            <a:ext cx="5429250" cy="2230040"/>
          </a:xfrm>
          <a:prstGeom prst="rect">
            <a:avLst/>
          </a:prstGeom>
          <a:solidFill>
            <a:srgbClr val="FFFFFF"/>
          </a:solidFill>
          <a:ln w="19050">
            <a:solidFill>
              <a:srgbClr val="004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1" name="Picture 10" descr="temp_icon_slide_0_el_8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91312" y="2786657"/>
            <a:ext cx="466725" cy="53340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7543800" y="2712839"/>
            <a:ext cx="3867150" cy="7280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38125"/>
              </a:lnSpc>
            </a:pPr>
            <a:r>
              <a:rPr lang="fr-FR" dirty="0"/>
              <a:t>Absence de visibilité sur l’état des stocks et des commandes</a:t>
            </a:r>
            <a:endParaRPr dirty="0">
              <a:solidFill>
                <a:srgbClr val="000000"/>
              </a:solidFill>
              <a:latin typeface="Segoe UI"/>
            </a:endParaRPr>
          </a:p>
        </p:txBody>
      </p:sp>
      <p:pic>
        <p:nvPicPr>
          <p:cNvPr id="13" name="Picture 12" descr="temp_slide_0_el_10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963150" y="2768203"/>
            <a:ext cx="2114550" cy="19050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476250" y="4454128"/>
            <a:ext cx="5429250" cy="1927621"/>
          </a:xfrm>
          <a:prstGeom prst="rect">
            <a:avLst/>
          </a:prstGeom>
          <a:solidFill>
            <a:srgbClr val="FFFFFF"/>
          </a:solidFill>
          <a:ln w="19050">
            <a:solidFill>
              <a:srgbClr val="004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1733550" y="5077420"/>
            <a:ext cx="3867150" cy="7280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38125"/>
              </a:lnSpc>
            </a:pPr>
            <a:r>
              <a:rPr lang="fr-FR" dirty="0"/>
              <a:t>Suivi complexe et non structuré du cycle de vie des commandes</a:t>
            </a:r>
            <a:endParaRPr dirty="0">
              <a:solidFill>
                <a:srgbClr val="000000"/>
              </a:solidFill>
              <a:latin typeface="Segoe UI"/>
            </a:endParaRPr>
          </a:p>
        </p:txBody>
      </p:sp>
      <p:pic>
        <p:nvPicPr>
          <p:cNvPr id="17" name="Picture 16" descr="temp_slide_0_el_14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152900" y="4981575"/>
            <a:ext cx="2114550" cy="1905000"/>
          </a:xfrm>
          <a:prstGeom prst="rect">
            <a:avLst/>
          </a:prstGeom>
        </p:spPr>
      </p:pic>
      <p:sp>
        <p:nvSpPr>
          <p:cNvPr id="18" name="Rectangle 17"/>
          <p:cNvSpPr/>
          <p:nvPr/>
        </p:nvSpPr>
        <p:spPr>
          <a:xfrm>
            <a:off x="6286500" y="4454128"/>
            <a:ext cx="5429250" cy="1927621"/>
          </a:xfrm>
          <a:prstGeom prst="rect">
            <a:avLst/>
          </a:prstGeom>
          <a:solidFill>
            <a:srgbClr val="004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9" name="Picture 18" descr="temp_icon_slide_0_el_16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605587" y="5151239"/>
            <a:ext cx="600075" cy="533400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7524750" y="5077420"/>
            <a:ext cx="3905250" cy="7280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38125"/>
              </a:lnSpc>
            </a:pPr>
            <a:r>
              <a:rPr lang="fr-FR" dirty="0"/>
              <a:t>Absence d’une solution évolutive et maintenable</a:t>
            </a:r>
            <a:endParaRPr dirty="0">
              <a:solidFill>
                <a:srgbClr val="FFFFFF"/>
              </a:solidFill>
              <a:latin typeface="Segoe UI"/>
            </a:endParaRPr>
          </a:p>
        </p:txBody>
      </p:sp>
      <p:pic>
        <p:nvPicPr>
          <p:cNvPr id="21" name="Picture 20" descr="temp_slide_0_el_18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982200" y="5000625"/>
            <a:ext cx="2114550" cy="1905000"/>
          </a:xfrm>
          <a:prstGeom prst="rect">
            <a:avLst/>
          </a:prstGeom>
        </p:spPr>
      </p:pic>
      <p:sp>
        <p:nvSpPr>
          <p:cNvPr id="22" name="TextBox 3">
            <a:extLst>
              <a:ext uri="{FF2B5EF4-FFF2-40B4-BE49-F238E27FC236}">
                <a16:creationId xmlns:a16="http://schemas.microsoft.com/office/drawing/2014/main" id="{A6721C56-ADF5-8AED-8AB1-A5410B8EB5EC}"/>
              </a:ext>
            </a:extLst>
          </p:cNvPr>
          <p:cNvSpPr txBox="1"/>
          <p:nvPr/>
        </p:nvSpPr>
        <p:spPr>
          <a:xfrm>
            <a:off x="9696450" y="142875"/>
            <a:ext cx="4038600" cy="2143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7500"/>
              </a:lnSpc>
            </a:pPr>
            <a:r>
              <a:rPr sz="1125" dirty="0">
                <a:solidFill>
                  <a:srgbClr val="000000"/>
                </a:solidFill>
                <a:latin typeface="Segoe UI"/>
              </a:rPr>
              <a:t>Stage SOLVERS Technologies</a:t>
            </a:r>
          </a:p>
        </p:txBody>
      </p:sp>
      <p:pic>
        <p:nvPicPr>
          <p:cNvPr id="23" name="Image 22">
            <a:extLst>
              <a:ext uri="{FF2B5EF4-FFF2-40B4-BE49-F238E27FC236}">
                <a16:creationId xmlns:a16="http://schemas.microsoft.com/office/drawing/2014/main" id="{B78F9B1F-7544-4062-DBFE-08E2B0F4D083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61947" y="5031875"/>
            <a:ext cx="762106" cy="800212"/>
          </a:xfrm>
          <a:prstGeom prst="rect">
            <a:avLst/>
          </a:prstGeom>
        </p:spPr>
      </p:pic>
      <p:sp>
        <p:nvSpPr>
          <p:cNvPr id="26" name="Espace réservé du numéro de diapositive 25">
            <a:extLst>
              <a:ext uri="{FF2B5EF4-FFF2-40B4-BE49-F238E27FC236}">
                <a16:creationId xmlns:a16="http://schemas.microsoft.com/office/drawing/2014/main" id="{AAAF38E7-6CCD-17EA-65ED-6432060BEB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7</a:t>
            </a:fld>
            <a:endParaRPr lang="en-US"/>
          </a:p>
        </p:txBody>
      </p:sp>
      <p:sp>
        <p:nvSpPr>
          <p:cNvPr id="27" name="ZoneTexte 26">
            <a:extLst>
              <a:ext uri="{FF2B5EF4-FFF2-40B4-BE49-F238E27FC236}">
                <a16:creationId xmlns:a16="http://schemas.microsoft.com/office/drawing/2014/main" id="{CC1169FC-BCE4-CED2-CA76-4AF57A116FEC}"/>
              </a:ext>
            </a:extLst>
          </p:cNvPr>
          <p:cNvSpPr txBox="1"/>
          <p:nvPr/>
        </p:nvSpPr>
        <p:spPr>
          <a:xfrm>
            <a:off x="3486779" y="65365"/>
            <a:ext cx="1151541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b="1" dirty="0" err="1">
                <a:solidFill>
                  <a:srgbClr val="000000"/>
                </a:solidFill>
                <a:latin typeface="Segoe UI"/>
              </a:rPr>
              <a:t>Contexte</a:t>
            </a:r>
            <a:r>
              <a:rPr lang="en-US" sz="1800" b="1" dirty="0">
                <a:solidFill>
                  <a:srgbClr val="000000"/>
                </a:solidFill>
                <a:latin typeface="Segoe UI"/>
              </a:rPr>
              <a:t> du Stage &amp; </a:t>
            </a:r>
            <a:r>
              <a:rPr lang="en-US" sz="1800" b="1" dirty="0" err="1">
                <a:solidFill>
                  <a:srgbClr val="000000"/>
                </a:solidFill>
                <a:latin typeface="Segoe UI"/>
              </a:rPr>
              <a:t>Problématique</a:t>
            </a:r>
            <a:endParaRPr lang="en-US" b="1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temp_bg_slide_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76250" y="190500"/>
            <a:ext cx="685800" cy="2143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7500"/>
              </a:lnSpc>
            </a:pPr>
            <a:r>
              <a:rPr sz="1125">
                <a:solidFill>
                  <a:srgbClr val="000000"/>
                </a:solidFill>
                <a:latin typeface="Segoe UI"/>
              </a:rPr>
              <a:t>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96450" y="190500"/>
            <a:ext cx="4038600" cy="2143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7500"/>
              </a:lnSpc>
            </a:pPr>
            <a:r>
              <a:rPr sz="1125">
                <a:solidFill>
                  <a:srgbClr val="000000"/>
                </a:solidFill>
                <a:latin typeface="Segoe UI"/>
              </a:rPr>
              <a:t>Stage SOLVERS Technologies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76250" y="700087"/>
            <a:ext cx="22479000" cy="571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6250"/>
              </a:lnSpc>
            </a:pPr>
            <a:r>
              <a:rPr sz="3600" b="1" dirty="0">
                <a:solidFill>
                  <a:srgbClr val="000000"/>
                </a:solidFill>
                <a:latin typeface="Segoe UI"/>
              </a:rPr>
              <a:t>Solution Technique — Stack &amp; Architecture MVC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6250" y="1557337"/>
            <a:ext cx="3933825" cy="4919662"/>
          </a:xfrm>
          <a:prstGeom prst="roundRect">
            <a:avLst/>
          </a:prstGeom>
          <a:solidFill>
            <a:srgbClr val="004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62000" y="2193131"/>
            <a:ext cx="6724650" cy="3429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0000"/>
              </a:lnSpc>
            </a:pPr>
            <a:r>
              <a:rPr sz="2700" b="1">
                <a:solidFill>
                  <a:srgbClr val="FFFFFF"/>
                </a:solidFill>
                <a:latin typeface="Segoe UI"/>
              </a:rPr>
              <a:t>MVC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2000" y="2631281"/>
            <a:ext cx="6724650" cy="2571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7500"/>
              </a:lnSpc>
            </a:pPr>
            <a:r>
              <a:rPr sz="1350">
                <a:solidFill>
                  <a:srgbClr val="FFFFFF"/>
                </a:solidFill>
                <a:latin typeface="Segoe UI"/>
              </a:rPr>
              <a:t>Modèle–Vue–Contrôleur</a:t>
            </a:r>
          </a:p>
        </p:txBody>
      </p:sp>
      <p:sp>
        <p:nvSpPr>
          <p:cNvPr id="10" name="Rectangle 9"/>
          <p:cNvSpPr/>
          <p:nvPr/>
        </p:nvSpPr>
        <p:spPr>
          <a:xfrm>
            <a:off x="762000" y="3269456"/>
            <a:ext cx="714375" cy="371475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11" name="Connector 10"/>
          <p:cNvCxnSpPr/>
          <p:nvPr/>
        </p:nvCxnSpPr>
        <p:spPr>
          <a:xfrm>
            <a:off x="762000" y="3640931"/>
            <a:ext cx="714375" cy="0"/>
          </a:xfrm>
          <a:prstGeom prst="line">
            <a:avLst/>
          </a:prstGeom>
          <a:ln w="9525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762000" y="3269456"/>
            <a:ext cx="1428750" cy="3714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7500"/>
              </a:lnSpc>
              <a:defRPr sz="1500" b="1">
                <a:solidFill>
                  <a:srgbClr val="FFFFFF"/>
                </a:solidFill>
                <a:latin typeface="Segoe UI"/>
              </a:defRPr>
            </a:pPr>
            <a:r>
              <a:t>Objectif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762000" y="3640931"/>
            <a:ext cx="714375" cy="0"/>
          </a:xfrm>
          <a:prstGeom prst="line">
            <a:avLst/>
          </a:prstGeom>
          <a:ln w="9525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762000" y="3717131"/>
            <a:ext cx="3362325" cy="4953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8125"/>
              </a:lnSpc>
            </a:pPr>
            <a:r>
              <a:rPr sz="1200">
                <a:solidFill>
                  <a:srgbClr val="FFFFFF"/>
                </a:solidFill>
                <a:latin typeface="Segoe UI"/>
              </a:rPr>
              <a:t>Séparer l'interface, la logique de contrôle et la gestion des données.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62000" y="4498181"/>
            <a:ext cx="990600" cy="371475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16" name="Connector 15"/>
          <p:cNvCxnSpPr/>
          <p:nvPr/>
        </p:nvCxnSpPr>
        <p:spPr>
          <a:xfrm>
            <a:off x="762000" y="4869656"/>
            <a:ext cx="990600" cy="0"/>
          </a:xfrm>
          <a:prstGeom prst="line">
            <a:avLst/>
          </a:prstGeom>
          <a:ln w="9525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762000" y="4498181"/>
            <a:ext cx="1981200" cy="3714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7500"/>
              </a:lnSpc>
              <a:defRPr sz="1500" b="1">
                <a:solidFill>
                  <a:srgbClr val="FFFFFF"/>
                </a:solidFill>
                <a:latin typeface="Segoe UI"/>
              </a:defRPr>
            </a:pPr>
            <a:r>
              <a:t>Avantages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762000" y="4869656"/>
            <a:ext cx="990600" cy="0"/>
          </a:xfrm>
          <a:prstGeom prst="line">
            <a:avLst/>
          </a:prstGeom>
          <a:ln w="9525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762000" y="4945856"/>
            <a:ext cx="6724650" cy="247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8125"/>
              </a:lnSpc>
            </a:pPr>
            <a:r>
              <a:rPr sz="1200">
                <a:solidFill>
                  <a:srgbClr val="FFFFFF"/>
                </a:solidFill>
                <a:latin typeface="Segoe UI"/>
              </a:rPr>
              <a:t>Meilleure compréhension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62000" y="5269706"/>
            <a:ext cx="6724650" cy="247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8125"/>
              </a:lnSpc>
            </a:pPr>
            <a:r>
              <a:rPr sz="1200">
                <a:solidFill>
                  <a:srgbClr val="FFFFFF"/>
                </a:solidFill>
                <a:latin typeface="Segoe UI"/>
              </a:rPr>
              <a:t>Maintenabilité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62000" y="5593556"/>
            <a:ext cx="6724650" cy="247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8125"/>
              </a:lnSpc>
            </a:pPr>
            <a:r>
              <a:rPr sz="1200">
                <a:solidFill>
                  <a:srgbClr val="FFFFFF"/>
                </a:solidFill>
                <a:latin typeface="Segoe UI"/>
              </a:rPr>
              <a:t>Évolutivité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791075" y="1557337"/>
            <a:ext cx="3367087" cy="1114425"/>
          </a:xfrm>
          <a:prstGeom prst="rect">
            <a:avLst/>
          </a:prstGeom>
          <a:solidFill>
            <a:srgbClr val="F9FAFB"/>
          </a:solidFill>
          <a:ln w="952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4991100" y="1757362"/>
            <a:ext cx="1714500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7500"/>
              </a:lnSpc>
            </a:pPr>
            <a:r>
              <a:rPr sz="1500" b="1">
                <a:solidFill>
                  <a:srgbClr val="0048FF"/>
                </a:solidFill>
                <a:latin typeface="Segoe UI"/>
              </a:rPr>
              <a:t>Frontend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991100" y="2043112"/>
            <a:ext cx="17145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7500"/>
              </a:lnSpc>
            </a:pPr>
            <a:r>
              <a:rPr sz="1200">
                <a:solidFill>
                  <a:srgbClr val="000000"/>
                </a:solidFill>
                <a:latin typeface="Segoe UI"/>
              </a:rPr>
              <a:t>Next.js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348662" y="1557337"/>
            <a:ext cx="3367087" cy="1114425"/>
          </a:xfrm>
          <a:prstGeom prst="rect">
            <a:avLst/>
          </a:prstGeom>
          <a:solidFill>
            <a:srgbClr val="F9FAFB"/>
          </a:solidFill>
          <a:ln w="952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8548687" y="1757362"/>
            <a:ext cx="5934074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7500"/>
              </a:lnSpc>
            </a:pPr>
            <a:r>
              <a:rPr sz="1500" b="1">
                <a:solidFill>
                  <a:srgbClr val="0048FF"/>
                </a:solidFill>
                <a:latin typeface="Segoe UI"/>
              </a:rPr>
              <a:t>Backend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548687" y="2043112"/>
            <a:ext cx="5934074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7500"/>
              </a:lnSpc>
            </a:pPr>
            <a:r>
              <a:rPr sz="1200">
                <a:solidFill>
                  <a:srgbClr val="000000"/>
                </a:solidFill>
                <a:latin typeface="Segoe UI"/>
              </a:rPr>
              <a:t>NestJS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548687" y="2271712"/>
            <a:ext cx="5934074" cy="2000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7500"/>
              </a:lnSpc>
            </a:pPr>
            <a:r>
              <a:rPr sz="1050">
                <a:solidFill>
                  <a:srgbClr val="4A5565"/>
                </a:solidFill>
                <a:latin typeface="Segoe UI"/>
              </a:rPr>
              <a:t>Node.js, TypeScript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791075" y="2862262"/>
            <a:ext cx="3367087" cy="914400"/>
          </a:xfrm>
          <a:prstGeom prst="rect">
            <a:avLst/>
          </a:prstGeom>
          <a:solidFill>
            <a:srgbClr val="F9FAFB"/>
          </a:solidFill>
          <a:ln w="952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4991100" y="3062287"/>
            <a:ext cx="3124200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7500"/>
              </a:lnSpc>
            </a:pPr>
            <a:r>
              <a:rPr sz="1500" b="1" dirty="0">
                <a:solidFill>
                  <a:srgbClr val="0048FF"/>
                </a:solidFill>
                <a:latin typeface="Segoe UI"/>
              </a:rPr>
              <a:t>Base de données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991100" y="3348037"/>
            <a:ext cx="31242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7500"/>
              </a:lnSpc>
            </a:pPr>
            <a:r>
              <a:rPr sz="1200">
                <a:solidFill>
                  <a:srgbClr val="000000"/>
                </a:solidFill>
                <a:latin typeface="Segoe UI"/>
              </a:rPr>
              <a:t>PostgreSQL</a:t>
            </a:r>
          </a:p>
        </p:txBody>
      </p:sp>
      <p:pic>
        <p:nvPicPr>
          <p:cNvPr id="33" name="Picture 32" descr="temp_slide_0_el_2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05612" y="2776537"/>
            <a:ext cx="1438275" cy="1047750"/>
          </a:xfrm>
          <a:prstGeom prst="rect">
            <a:avLst/>
          </a:prstGeom>
        </p:spPr>
      </p:pic>
      <p:sp>
        <p:nvSpPr>
          <p:cNvPr id="34" name="Rectangle 33"/>
          <p:cNvSpPr/>
          <p:nvPr/>
        </p:nvSpPr>
        <p:spPr>
          <a:xfrm>
            <a:off x="8348662" y="2862262"/>
            <a:ext cx="3367087" cy="914400"/>
          </a:xfrm>
          <a:prstGeom prst="rect">
            <a:avLst/>
          </a:prstGeom>
          <a:solidFill>
            <a:srgbClr val="F9FAFB"/>
          </a:solidFill>
          <a:ln w="952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8548687" y="3062287"/>
            <a:ext cx="5934074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7500"/>
              </a:lnSpc>
            </a:pPr>
            <a:r>
              <a:rPr sz="1500" b="1">
                <a:solidFill>
                  <a:srgbClr val="0048FF"/>
                </a:solidFill>
                <a:latin typeface="Segoe UI"/>
              </a:rPr>
              <a:t>ORM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548687" y="3348037"/>
            <a:ext cx="5934074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7500"/>
              </a:lnSpc>
            </a:pPr>
            <a:r>
              <a:rPr sz="1200">
                <a:solidFill>
                  <a:srgbClr val="000000"/>
                </a:solidFill>
                <a:latin typeface="Segoe UI"/>
              </a:rPr>
              <a:t>Prisma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791075" y="3967162"/>
            <a:ext cx="6924675" cy="1228725"/>
          </a:xfrm>
          <a:prstGeom prst="rect">
            <a:avLst/>
          </a:prstGeom>
          <a:solidFill>
            <a:srgbClr val="F9FAFB"/>
          </a:solidFill>
          <a:ln w="952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4905375" y="4019708"/>
            <a:ext cx="13049250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7500"/>
              </a:lnSpc>
            </a:pPr>
            <a:r>
              <a:rPr sz="1500" b="1" dirty="0" err="1">
                <a:solidFill>
                  <a:srgbClr val="0048FF"/>
                </a:solidFill>
                <a:latin typeface="Segoe UI"/>
              </a:rPr>
              <a:t>Outils</a:t>
            </a:r>
            <a:r>
              <a:rPr sz="1500" b="1" dirty="0">
                <a:solidFill>
                  <a:srgbClr val="0048FF"/>
                </a:solidFill>
                <a:latin typeface="Segoe UI"/>
              </a:rPr>
              <a:t> de </a:t>
            </a:r>
            <a:r>
              <a:rPr sz="1500" b="1" dirty="0" err="1">
                <a:solidFill>
                  <a:srgbClr val="0048FF"/>
                </a:solidFill>
                <a:latin typeface="Segoe UI"/>
              </a:rPr>
              <a:t>développement</a:t>
            </a:r>
            <a:endParaRPr sz="1500" b="1" dirty="0">
              <a:solidFill>
                <a:srgbClr val="0048FF"/>
              </a:solidFill>
              <a:latin typeface="Segoe UI"/>
            </a:endParaRPr>
          </a:p>
        </p:txBody>
      </p:sp>
      <p:pic>
        <p:nvPicPr>
          <p:cNvPr id="39" name="Picture 38" descr="temp_slide_0_el_3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84232" y="4096452"/>
            <a:ext cx="1366257" cy="1304154"/>
          </a:xfrm>
          <a:prstGeom prst="rect">
            <a:avLst/>
          </a:prstGeom>
        </p:spPr>
      </p:pic>
      <p:sp>
        <p:nvSpPr>
          <p:cNvPr id="40" name="TextBox 39"/>
          <p:cNvSpPr txBox="1"/>
          <p:nvPr/>
        </p:nvSpPr>
        <p:spPr>
          <a:xfrm>
            <a:off x="5617079" y="4567237"/>
            <a:ext cx="1333500" cy="28289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7500"/>
              </a:lnSpc>
            </a:pPr>
            <a:r>
              <a:rPr sz="1600" dirty="0" err="1">
                <a:solidFill>
                  <a:srgbClr val="000000"/>
                </a:solidFill>
                <a:latin typeface="Segoe UI"/>
              </a:rPr>
              <a:t>pgAdmin</a:t>
            </a:r>
            <a:endParaRPr sz="1600" dirty="0">
              <a:solidFill>
                <a:srgbClr val="000000"/>
              </a:solidFill>
              <a:latin typeface="Segoe UI"/>
            </a:endParaRPr>
          </a:p>
        </p:txBody>
      </p:sp>
      <p:pic>
        <p:nvPicPr>
          <p:cNvPr id="41" name="Picture 40" descr="temp_slide_0_el_32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87676" y="4204096"/>
            <a:ext cx="1047750" cy="1134666"/>
          </a:xfrm>
          <a:prstGeom prst="rect">
            <a:avLst/>
          </a:prstGeom>
        </p:spPr>
      </p:pic>
      <p:sp>
        <p:nvSpPr>
          <p:cNvPr id="42" name="TextBox 41"/>
          <p:cNvSpPr txBox="1"/>
          <p:nvPr/>
        </p:nvSpPr>
        <p:spPr>
          <a:xfrm>
            <a:off x="7872522" y="4567237"/>
            <a:ext cx="1200150" cy="28289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7500"/>
              </a:lnSpc>
            </a:pPr>
            <a:r>
              <a:rPr sz="1600" dirty="0">
                <a:solidFill>
                  <a:srgbClr val="000000"/>
                </a:solidFill>
                <a:latin typeface="Segoe UI"/>
              </a:rPr>
              <a:t>VS Code</a:t>
            </a:r>
          </a:p>
        </p:txBody>
      </p:sp>
      <p:pic>
        <p:nvPicPr>
          <p:cNvPr id="25" name="Picture 24" descr="temp_slide_0_el_16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322587" y="2800349"/>
            <a:ext cx="1333500" cy="1000125"/>
          </a:xfrm>
          <a:prstGeom prst="rect">
            <a:avLst/>
          </a:prstGeom>
        </p:spPr>
      </p:pic>
      <p:pic>
        <p:nvPicPr>
          <p:cNvPr id="48" name="Graphique 47">
            <a:extLst>
              <a:ext uri="{FF2B5EF4-FFF2-40B4-BE49-F238E27FC236}">
                <a16:creationId xmlns:a16="http://schemas.microsoft.com/office/drawing/2014/main" id="{5DAF9FA9-85D8-F1D6-235E-A4A8ABF46A64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728211" y="1529026"/>
            <a:ext cx="1219200" cy="1219200"/>
          </a:xfrm>
          <a:prstGeom prst="rect">
            <a:avLst/>
          </a:prstGeom>
        </p:spPr>
      </p:pic>
      <p:pic>
        <p:nvPicPr>
          <p:cNvPr id="50" name="Graphique 49">
            <a:extLst>
              <a:ext uri="{FF2B5EF4-FFF2-40B4-BE49-F238E27FC236}">
                <a16:creationId xmlns:a16="http://schemas.microsoft.com/office/drawing/2014/main" id="{20BFA1AD-7AC1-7FAE-0F79-C29D7177873B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0192584" y="1658027"/>
            <a:ext cx="1176337" cy="914400"/>
          </a:xfrm>
          <a:prstGeom prst="rect">
            <a:avLst/>
          </a:prstGeom>
        </p:spPr>
      </p:pic>
      <p:sp>
        <p:nvSpPr>
          <p:cNvPr id="52" name="TextBox 45">
            <a:extLst>
              <a:ext uri="{FF2B5EF4-FFF2-40B4-BE49-F238E27FC236}">
                <a16:creationId xmlns:a16="http://schemas.microsoft.com/office/drawing/2014/main" id="{EEB08FF7-DAA4-2EE2-53DE-7DACFD9E25F2}"/>
              </a:ext>
            </a:extLst>
          </p:cNvPr>
          <p:cNvSpPr txBox="1"/>
          <p:nvPr/>
        </p:nvSpPr>
        <p:spPr>
          <a:xfrm>
            <a:off x="10138783" y="4561908"/>
            <a:ext cx="1104900" cy="35355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7500"/>
              </a:lnSpc>
            </a:pPr>
            <a:r>
              <a:rPr lang="fr-FR" sz="2000" dirty="0">
                <a:solidFill>
                  <a:srgbClr val="000000"/>
                </a:solidFill>
                <a:latin typeface="Segoe UI"/>
              </a:rPr>
              <a:t>GitHub</a:t>
            </a:r>
            <a:endParaRPr sz="2000" dirty="0">
              <a:solidFill>
                <a:srgbClr val="000000"/>
              </a:solidFill>
              <a:latin typeface="Segoe UI"/>
            </a:endParaRPr>
          </a:p>
        </p:txBody>
      </p:sp>
      <p:pic>
        <p:nvPicPr>
          <p:cNvPr id="54" name="Graphique 53">
            <a:extLst>
              <a:ext uri="{FF2B5EF4-FFF2-40B4-BE49-F238E27FC236}">
                <a16:creationId xmlns:a16="http://schemas.microsoft.com/office/drawing/2014/main" id="{6D19DCA6-3E8C-6E3A-F93C-315D14CF81CC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9258724" y="4401179"/>
            <a:ext cx="680033" cy="680033"/>
          </a:xfrm>
          <a:prstGeom prst="rect">
            <a:avLst/>
          </a:prstGeom>
        </p:spPr>
      </p:pic>
      <p:sp>
        <p:nvSpPr>
          <p:cNvPr id="43" name="TextBox 11">
            <a:extLst>
              <a:ext uri="{FF2B5EF4-FFF2-40B4-BE49-F238E27FC236}">
                <a16:creationId xmlns:a16="http://schemas.microsoft.com/office/drawing/2014/main" id="{0AFE2F04-9736-08FB-FCD6-B8F9636C38EB}"/>
              </a:ext>
            </a:extLst>
          </p:cNvPr>
          <p:cNvSpPr txBox="1"/>
          <p:nvPr/>
        </p:nvSpPr>
        <p:spPr>
          <a:xfrm>
            <a:off x="4690483" y="144774"/>
            <a:ext cx="6000750" cy="23852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6250"/>
              </a:lnSpc>
            </a:pPr>
            <a:r>
              <a:rPr sz="1575" b="1" dirty="0">
                <a:solidFill>
                  <a:srgbClr val="000000"/>
                </a:solidFill>
                <a:latin typeface="Segoe UI"/>
              </a:rPr>
              <a:t>Architecture</a:t>
            </a:r>
            <a:r>
              <a:rPr lang="fr-FR" sz="1575" b="1" dirty="0">
                <a:solidFill>
                  <a:srgbClr val="000000"/>
                </a:solidFill>
                <a:latin typeface="Segoe UI"/>
              </a:rPr>
              <a:t> logicielle</a:t>
            </a:r>
            <a:endParaRPr sz="1575" b="1" dirty="0">
              <a:solidFill>
                <a:srgbClr val="000000"/>
              </a:solidFill>
              <a:latin typeface="Segoe UI"/>
            </a:endParaRPr>
          </a:p>
        </p:txBody>
      </p:sp>
      <p:sp>
        <p:nvSpPr>
          <p:cNvPr id="44" name="Espace réservé du numéro de diapositive 43">
            <a:extLst>
              <a:ext uri="{FF2B5EF4-FFF2-40B4-BE49-F238E27FC236}">
                <a16:creationId xmlns:a16="http://schemas.microsoft.com/office/drawing/2014/main" id="{8F0381E5-572C-D672-D035-0DBBE6BAF5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8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Picture 1" descr="temp_bg_slide_0.png">
            <a:extLst>
              <a:ext uri="{FF2B5EF4-FFF2-40B4-BE49-F238E27FC236}">
                <a16:creationId xmlns:a16="http://schemas.microsoft.com/office/drawing/2014/main" id="{71D82FCC-617A-DAED-C624-3A98851C93E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extBox 1"/>
          <p:cNvSpPr txBox="1"/>
          <p:nvPr/>
        </p:nvSpPr>
        <p:spPr>
          <a:xfrm>
            <a:off x="476250" y="190500"/>
            <a:ext cx="685800" cy="2143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7500"/>
              </a:lnSpc>
            </a:pPr>
            <a:r>
              <a:rPr sz="1125">
                <a:solidFill>
                  <a:srgbClr val="000000"/>
                </a:solidFill>
                <a:latin typeface="Segoe UI"/>
              </a:rPr>
              <a:t>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96450" y="190500"/>
            <a:ext cx="4038600" cy="2143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7500"/>
              </a:lnSpc>
            </a:pPr>
            <a:r>
              <a:rPr sz="1125">
                <a:solidFill>
                  <a:srgbClr val="000000"/>
                </a:solidFill>
                <a:latin typeface="Segoe UI"/>
              </a:rPr>
              <a:t>Stage SOLVERS Technologies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6250" y="700087"/>
            <a:ext cx="6934200" cy="10001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6250"/>
              </a:lnSpc>
            </a:pPr>
            <a:r>
              <a:rPr sz="3150" b="1" dirty="0" err="1">
                <a:solidFill>
                  <a:srgbClr val="000000"/>
                </a:solidFill>
                <a:latin typeface="Segoe UI"/>
              </a:rPr>
              <a:t>Diagramme</a:t>
            </a:r>
            <a:r>
              <a:rPr sz="3150" b="1" dirty="0">
                <a:solidFill>
                  <a:srgbClr val="000000"/>
                </a:solidFill>
                <a:latin typeface="Segoe UI"/>
              </a:rPr>
              <a:t> de Cas </a:t>
            </a:r>
            <a:r>
              <a:rPr sz="3150" b="1" dirty="0" err="1">
                <a:solidFill>
                  <a:srgbClr val="000000"/>
                </a:solidFill>
                <a:latin typeface="Segoe UI"/>
              </a:rPr>
              <a:t>d'Utilisation</a:t>
            </a:r>
            <a:r>
              <a:rPr sz="3150" b="1" dirty="0">
                <a:solidFill>
                  <a:srgbClr val="000000"/>
                </a:solidFill>
                <a:latin typeface="Segoe UI"/>
              </a:rPr>
              <a:t> — </a:t>
            </a:r>
            <a:r>
              <a:rPr sz="3150" b="1" dirty="0" err="1">
                <a:solidFill>
                  <a:srgbClr val="000000"/>
                </a:solidFill>
                <a:latin typeface="Segoe UI"/>
              </a:rPr>
              <a:t>Globale</a:t>
            </a:r>
            <a:endParaRPr sz="3150" b="1" dirty="0">
              <a:solidFill>
                <a:srgbClr val="000000"/>
              </a:solidFill>
              <a:latin typeface="Segoe UI"/>
            </a:endParaRPr>
          </a:p>
        </p:txBody>
      </p:sp>
      <p:sp>
        <p:nvSpPr>
          <p:cNvPr id="6" name="Oval 5"/>
          <p:cNvSpPr/>
          <p:nvPr/>
        </p:nvSpPr>
        <p:spPr>
          <a:xfrm>
            <a:off x="7410450" y="1528762"/>
            <a:ext cx="114300" cy="114300"/>
          </a:xfrm>
          <a:prstGeom prst="ellipse">
            <a:avLst/>
          </a:prstGeom>
          <a:solidFill>
            <a:srgbClr val="004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600950" y="1471612"/>
            <a:ext cx="22098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7500"/>
              </a:lnSpc>
            </a:pPr>
            <a:r>
              <a:rPr sz="1200">
                <a:solidFill>
                  <a:srgbClr val="4A5565"/>
                </a:solidFill>
                <a:latin typeface="Segoe UI"/>
              </a:rPr>
              <a:t>Administrateur</a:t>
            </a:r>
          </a:p>
        </p:txBody>
      </p:sp>
      <p:sp>
        <p:nvSpPr>
          <p:cNvPr id="8" name="Oval 7"/>
          <p:cNvSpPr/>
          <p:nvPr/>
        </p:nvSpPr>
        <p:spPr>
          <a:xfrm>
            <a:off x="8934450" y="1528762"/>
            <a:ext cx="114300" cy="114300"/>
          </a:xfrm>
          <a:prstGeom prst="ellipse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124950" y="1471612"/>
            <a:ext cx="112395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7500"/>
              </a:lnSpc>
            </a:pPr>
            <a:r>
              <a:rPr sz="1200">
                <a:solidFill>
                  <a:srgbClr val="4A5565"/>
                </a:solidFill>
                <a:latin typeface="Segoe UI"/>
              </a:rPr>
              <a:t>Visiteur</a:t>
            </a:r>
          </a:p>
        </p:txBody>
      </p:sp>
      <p:sp>
        <p:nvSpPr>
          <p:cNvPr id="10" name="Oval 9"/>
          <p:cNvSpPr/>
          <p:nvPr/>
        </p:nvSpPr>
        <p:spPr>
          <a:xfrm>
            <a:off x="9915525" y="1528762"/>
            <a:ext cx="114300" cy="114300"/>
          </a:xfrm>
          <a:prstGeom prst="ellipse">
            <a:avLst/>
          </a:prstGeom>
          <a:solidFill>
            <a:srgbClr val="99A1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0106025" y="1471612"/>
            <a:ext cx="8382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7500"/>
              </a:lnSpc>
            </a:pPr>
            <a:r>
              <a:rPr sz="1200">
                <a:solidFill>
                  <a:srgbClr val="4A5565"/>
                </a:solidFill>
                <a:latin typeface="Segoe UI"/>
              </a:rPr>
              <a:t>Client</a:t>
            </a:r>
          </a:p>
        </p:txBody>
      </p:sp>
      <p:pic>
        <p:nvPicPr>
          <p:cNvPr id="12" name="Picture 11" descr="temp_slide_0_el_1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67975" y="1243012"/>
            <a:ext cx="685800" cy="68580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0944225" y="1471612"/>
            <a:ext cx="154305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7500"/>
              </a:lnSpc>
            </a:pPr>
            <a:r>
              <a:rPr sz="1200">
                <a:solidFill>
                  <a:srgbClr val="4A5565"/>
                </a:solidFill>
                <a:latin typeface="Segoe UI"/>
              </a:rPr>
              <a:t>Animateur</a:t>
            </a:r>
          </a:p>
        </p:txBody>
      </p:sp>
      <p:pic>
        <p:nvPicPr>
          <p:cNvPr id="14" name="Picture 13" descr="temp_slide_0_el_1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0500" y="1604962"/>
            <a:ext cx="11811000" cy="5543550"/>
          </a:xfrm>
          <a:prstGeom prst="rect">
            <a:avLst/>
          </a:prstGeom>
        </p:spPr>
      </p:pic>
      <p:pic>
        <p:nvPicPr>
          <p:cNvPr id="15" name="Picture 14" descr="temp_slide_0_el_13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00025" y="1614487"/>
            <a:ext cx="1524000" cy="1524000"/>
          </a:xfrm>
          <a:prstGeom prst="rect">
            <a:avLst/>
          </a:prstGeom>
        </p:spPr>
      </p:pic>
      <p:pic>
        <p:nvPicPr>
          <p:cNvPr id="16" name="Picture 15" descr="temp_slide_0_el_14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467975" y="5614987"/>
            <a:ext cx="1524000" cy="1524000"/>
          </a:xfrm>
          <a:prstGeom prst="rect">
            <a:avLst/>
          </a:prstGeom>
        </p:spPr>
      </p:pic>
      <p:pic>
        <p:nvPicPr>
          <p:cNvPr id="17" name="Picture 16" descr="temp_slide_0_el_15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47750" y="1614487"/>
            <a:ext cx="10096500" cy="5524500"/>
          </a:xfrm>
          <a:prstGeom prst="rect">
            <a:avLst/>
          </a:prstGeom>
        </p:spPr>
      </p:pic>
      <p:sp>
        <p:nvSpPr>
          <p:cNvPr id="3" name="TextBox 13">
            <a:extLst>
              <a:ext uri="{FF2B5EF4-FFF2-40B4-BE49-F238E27FC236}">
                <a16:creationId xmlns:a16="http://schemas.microsoft.com/office/drawing/2014/main" id="{984CAFF9-7B68-CAF4-D7E9-E2DB386262DA}"/>
              </a:ext>
            </a:extLst>
          </p:cNvPr>
          <p:cNvSpPr txBox="1"/>
          <p:nvPr/>
        </p:nvSpPr>
        <p:spPr>
          <a:xfrm>
            <a:off x="4344015" y="111516"/>
            <a:ext cx="5676900" cy="23852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06250"/>
              </a:lnSpc>
            </a:pPr>
            <a:r>
              <a:rPr lang="en-US" sz="1575" b="1" dirty="0" err="1">
                <a:solidFill>
                  <a:srgbClr val="000000"/>
                </a:solidFill>
                <a:latin typeface="Segoe UI"/>
              </a:rPr>
              <a:t>Diagramme</a:t>
            </a:r>
            <a:r>
              <a:rPr lang="en-US" sz="1575" b="1" dirty="0">
                <a:solidFill>
                  <a:srgbClr val="000000"/>
                </a:solidFill>
                <a:latin typeface="Segoe UI"/>
              </a:rPr>
              <a:t> de </a:t>
            </a:r>
            <a:r>
              <a:rPr lang="en-US" sz="1575" b="1" dirty="0" err="1">
                <a:solidFill>
                  <a:srgbClr val="000000"/>
                </a:solidFill>
                <a:latin typeface="Segoe UI"/>
              </a:rPr>
              <a:t>c</a:t>
            </a:r>
            <a:r>
              <a:rPr sz="1575" b="1" dirty="0" err="1">
                <a:solidFill>
                  <a:srgbClr val="000000"/>
                </a:solidFill>
                <a:latin typeface="Segoe UI"/>
              </a:rPr>
              <a:t>as</a:t>
            </a:r>
            <a:r>
              <a:rPr sz="1575" b="1" dirty="0">
                <a:solidFill>
                  <a:srgbClr val="000000"/>
                </a:solidFill>
                <a:latin typeface="Segoe UI"/>
              </a:rPr>
              <a:t> </a:t>
            </a:r>
            <a:r>
              <a:rPr sz="1575" b="1" dirty="0" err="1">
                <a:solidFill>
                  <a:srgbClr val="000000"/>
                </a:solidFill>
                <a:latin typeface="Segoe UI"/>
              </a:rPr>
              <a:t>d'Utilisation</a:t>
            </a:r>
            <a:endParaRPr sz="1575" b="1" dirty="0">
              <a:solidFill>
                <a:srgbClr val="000000"/>
              </a:solidFill>
              <a:latin typeface="Segoe UI"/>
            </a:endParaRPr>
          </a:p>
        </p:txBody>
      </p:sp>
      <p:sp>
        <p:nvSpPr>
          <p:cNvPr id="19" name="Espace réservé du numéro de diapositive 18">
            <a:extLst>
              <a:ext uri="{FF2B5EF4-FFF2-40B4-BE49-F238E27FC236}">
                <a16:creationId xmlns:a16="http://schemas.microsoft.com/office/drawing/2014/main" id="{D89CC888-5206-B685-D876-348A6EDE53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9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" descr="temp_bg_slide_0.png">
            <a:extLst>
              <a:ext uri="{FF2B5EF4-FFF2-40B4-BE49-F238E27FC236}">
                <a16:creationId xmlns:a16="http://schemas.microsoft.com/office/drawing/2014/main" id="{00C4E391-B950-5087-BDAF-0F16688EACB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extBox 1"/>
          <p:cNvSpPr txBox="1"/>
          <p:nvPr/>
        </p:nvSpPr>
        <p:spPr>
          <a:xfrm>
            <a:off x="476250" y="190500"/>
            <a:ext cx="685800" cy="2143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7500"/>
              </a:lnSpc>
            </a:pPr>
            <a:r>
              <a:rPr sz="1125">
                <a:solidFill>
                  <a:srgbClr val="000000"/>
                </a:solidFill>
                <a:latin typeface="Segoe UI"/>
              </a:rPr>
              <a:t>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96450" y="190500"/>
            <a:ext cx="4038600" cy="2143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7500"/>
              </a:lnSpc>
            </a:pPr>
            <a:r>
              <a:rPr sz="1125">
                <a:solidFill>
                  <a:srgbClr val="000000"/>
                </a:solidFill>
                <a:latin typeface="Segoe UI"/>
              </a:rPr>
              <a:t>Stage SOLVERS Technologies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6250" y="700087"/>
            <a:ext cx="7130206" cy="10001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6250"/>
              </a:lnSpc>
            </a:pPr>
            <a:r>
              <a:rPr sz="3150" b="1">
                <a:solidFill>
                  <a:srgbClr val="000000"/>
                </a:solidFill>
                <a:latin typeface="Segoe UI"/>
              </a:rPr>
              <a:t>Diagramme de Classes — Modèle Global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06456" y="1262062"/>
            <a:ext cx="8218586" cy="4381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7500"/>
              </a:lnSpc>
            </a:pPr>
            <a:r>
              <a:rPr sz="1050">
                <a:solidFill>
                  <a:srgbClr val="6A7282"/>
                </a:solidFill>
                <a:latin typeface="Segoe UI"/>
              </a:rPr>
              <a:t>Utilisateurs • Produits • Commandes • Panier • Retours • Carousel</a:t>
            </a:r>
          </a:p>
        </p:txBody>
      </p:sp>
      <p:pic>
        <p:nvPicPr>
          <p:cNvPr id="7" name="Picture 6" descr="temp_slide_0_el_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0500" y="1604962"/>
            <a:ext cx="11811000" cy="5734050"/>
          </a:xfrm>
          <a:prstGeom prst="rect">
            <a:avLst/>
          </a:prstGeom>
        </p:spPr>
      </p:pic>
      <p:pic>
        <p:nvPicPr>
          <p:cNvPr id="8" name="Picture 7" descr="temp_slide_0_el_1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67975" y="1614487"/>
            <a:ext cx="1524000" cy="1524000"/>
          </a:xfrm>
          <a:prstGeom prst="rect">
            <a:avLst/>
          </a:prstGeom>
        </p:spPr>
      </p:pic>
      <p:pic>
        <p:nvPicPr>
          <p:cNvPr id="9" name="Picture 8" descr="temp_slide_0_el_7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00025" y="5805487"/>
            <a:ext cx="1524000" cy="1524000"/>
          </a:xfrm>
          <a:prstGeom prst="rect">
            <a:avLst/>
          </a:prstGeom>
        </p:spPr>
      </p:pic>
      <p:pic>
        <p:nvPicPr>
          <p:cNvPr id="10" name="Picture 9" descr="temp_slide_0_el_8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1500" y="1614487"/>
            <a:ext cx="11049000" cy="5715000"/>
          </a:xfrm>
          <a:prstGeom prst="rect">
            <a:avLst/>
          </a:prstGeom>
        </p:spPr>
      </p:pic>
      <p:sp>
        <p:nvSpPr>
          <p:cNvPr id="3" name="TextBox 15">
            <a:extLst>
              <a:ext uri="{FF2B5EF4-FFF2-40B4-BE49-F238E27FC236}">
                <a16:creationId xmlns:a16="http://schemas.microsoft.com/office/drawing/2014/main" id="{268F692D-5BBB-1522-0963-D6C42BF6AF7F}"/>
              </a:ext>
            </a:extLst>
          </p:cNvPr>
          <p:cNvSpPr txBox="1"/>
          <p:nvPr/>
        </p:nvSpPr>
        <p:spPr>
          <a:xfrm>
            <a:off x="4698023" y="152199"/>
            <a:ext cx="8382000" cy="23852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6250"/>
              </a:lnSpc>
            </a:pPr>
            <a:r>
              <a:rPr sz="1575" b="1" dirty="0" err="1">
                <a:solidFill>
                  <a:srgbClr val="000000"/>
                </a:solidFill>
                <a:latin typeface="Segoe UI"/>
              </a:rPr>
              <a:t>Diagramme</a:t>
            </a:r>
            <a:r>
              <a:rPr sz="1575" b="1" dirty="0">
                <a:solidFill>
                  <a:srgbClr val="000000"/>
                </a:solidFill>
                <a:latin typeface="Segoe UI"/>
              </a:rPr>
              <a:t> de Classes</a:t>
            </a:r>
          </a:p>
        </p:txBody>
      </p:sp>
      <p:sp>
        <p:nvSpPr>
          <p:cNvPr id="12" name="Espace réservé du numéro de diapositive 11">
            <a:extLst>
              <a:ext uri="{FF2B5EF4-FFF2-40B4-BE49-F238E27FC236}">
                <a16:creationId xmlns:a16="http://schemas.microsoft.com/office/drawing/2014/main" id="{6E2994C8-F5CF-6EB5-E89B-805306D70E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10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" name="Image 28">
            <a:extLst>
              <a:ext uri="{FF2B5EF4-FFF2-40B4-BE49-F238E27FC236}">
                <a16:creationId xmlns:a16="http://schemas.microsoft.com/office/drawing/2014/main" id="{1D39D7B2-B84D-19EF-B7BF-8B68DE8BCFF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extBox 1"/>
          <p:cNvSpPr txBox="1"/>
          <p:nvPr/>
        </p:nvSpPr>
        <p:spPr>
          <a:xfrm>
            <a:off x="476250" y="190500"/>
            <a:ext cx="685800" cy="2143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7500"/>
              </a:lnSpc>
            </a:pPr>
            <a:r>
              <a:rPr sz="1125">
                <a:solidFill>
                  <a:srgbClr val="000000"/>
                </a:solidFill>
                <a:latin typeface="Segoe UI"/>
              </a:rPr>
              <a:t>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96450" y="190500"/>
            <a:ext cx="4038600" cy="2143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7500"/>
              </a:lnSpc>
            </a:pPr>
            <a:r>
              <a:rPr sz="1125">
                <a:solidFill>
                  <a:srgbClr val="000000"/>
                </a:solidFill>
                <a:latin typeface="Segoe UI"/>
              </a:rPr>
              <a:t>Stage SOLVERS Technologies</a:t>
            </a:r>
          </a:p>
        </p:txBody>
      </p:sp>
      <p:pic>
        <p:nvPicPr>
          <p:cNvPr id="7" name="Picture 6" descr="temp_slide_0_el_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53275" y="5784850"/>
            <a:ext cx="1143000" cy="1143000"/>
          </a:xfrm>
          <a:prstGeom prst="rect">
            <a:avLst/>
          </a:prstGeom>
        </p:spPr>
      </p:pic>
      <p:pic>
        <p:nvPicPr>
          <p:cNvPr id="8" name="Picture 7" descr="temp_slide_0_el_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1000" y="595312"/>
            <a:ext cx="7715250" cy="607218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8382000" y="1031081"/>
            <a:ext cx="3333750" cy="150018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6250"/>
              </a:lnSpc>
            </a:pPr>
            <a:r>
              <a:rPr sz="3150" b="1" dirty="0" err="1">
                <a:solidFill>
                  <a:srgbClr val="000000"/>
                </a:solidFill>
                <a:latin typeface="Segoe UI"/>
              </a:rPr>
              <a:t>Diagramme</a:t>
            </a:r>
            <a:r>
              <a:rPr sz="3150" b="1" dirty="0">
                <a:solidFill>
                  <a:srgbClr val="000000"/>
                </a:solidFill>
                <a:latin typeface="Segoe UI"/>
              </a:rPr>
              <a:t> de </a:t>
            </a:r>
            <a:r>
              <a:rPr sz="3150" b="1" dirty="0" err="1">
                <a:solidFill>
                  <a:srgbClr val="000000"/>
                </a:solidFill>
                <a:latin typeface="Segoe UI"/>
              </a:rPr>
              <a:t>Séquence</a:t>
            </a:r>
            <a:r>
              <a:rPr sz="3150" b="1" dirty="0">
                <a:solidFill>
                  <a:srgbClr val="000000"/>
                </a:solidFill>
                <a:latin typeface="Segoe UI"/>
              </a:rPr>
              <a:t> — </a:t>
            </a:r>
            <a:r>
              <a:rPr sz="3150" b="1" dirty="0" err="1">
                <a:solidFill>
                  <a:srgbClr val="000000"/>
                </a:solidFill>
                <a:latin typeface="Segoe UI"/>
              </a:rPr>
              <a:t>Connexion</a:t>
            </a:r>
            <a:endParaRPr sz="3150" b="1" dirty="0">
              <a:solidFill>
                <a:srgbClr val="000000"/>
              </a:solidFill>
              <a:latin typeface="Segoe UI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8382000" y="2683668"/>
            <a:ext cx="762000" cy="38100"/>
          </a:xfrm>
          <a:prstGeom prst="rect">
            <a:avLst/>
          </a:prstGeom>
          <a:solidFill>
            <a:srgbClr val="004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382000" y="3102768"/>
            <a:ext cx="6667500" cy="2000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7500"/>
              </a:lnSpc>
            </a:pPr>
            <a:r>
              <a:rPr sz="1050" b="1">
                <a:solidFill>
                  <a:srgbClr val="0048FF"/>
                </a:solidFill>
                <a:latin typeface="Segoe UI"/>
              </a:rPr>
              <a:t>Acteur Principal</a:t>
            </a:r>
          </a:p>
        </p:txBody>
      </p:sp>
      <p:sp>
        <p:nvSpPr>
          <p:cNvPr id="12" name="Oval 11"/>
          <p:cNvSpPr/>
          <p:nvPr/>
        </p:nvSpPr>
        <p:spPr>
          <a:xfrm>
            <a:off x="8382000" y="3483768"/>
            <a:ext cx="76200" cy="76200"/>
          </a:xfrm>
          <a:prstGeom prst="ellipse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382000" y="3902868"/>
            <a:ext cx="6667500" cy="2000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7500"/>
              </a:lnSpc>
            </a:pPr>
            <a:r>
              <a:rPr sz="1050" b="1">
                <a:solidFill>
                  <a:srgbClr val="0048FF"/>
                </a:solidFill>
                <a:latin typeface="Segoe UI"/>
              </a:rPr>
              <a:t>Flux d'Authentification</a:t>
            </a:r>
          </a:p>
        </p:txBody>
      </p:sp>
      <p:pic>
        <p:nvPicPr>
          <p:cNvPr id="14" name="Picture 13" descr="temp_slide_0_el_12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96250" y="3969543"/>
            <a:ext cx="800100" cy="800100"/>
          </a:xfrm>
          <a:prstGeom prst="rect">
            <a:avLst/>
          </a:prstGeom>
        </p:spPr>
      </p:pic>
      <p:sp>
        <p:nvSpPr>
          <p:cNvPr id="15" name="Rectangle 14"/>
          <p:cNvSpPr/>
          <p:nvPr/>
        </p:nvSpPr>
        <p:spPr>
          <a:xfrm>
            <a:off x="8491537" y="4521993"/>
            <a:ext cx="9525" cy="190500"/>
          </a:xfrm>
          <a:prstGeom prst="rect">
            <a:avLst/>
          </a:prstGeom>
          <a:solidFill>
            <a:srgbClr val="D1D5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724900" y="4217193"/>
            <a:ext cx="2800350" cy="2524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6250"/>
              </a:lnSpc>
            </a:pPr>
            <a:r>
              <a:rPr sz="1350" dirty="0" err="1">
                <a:solidFill>
                  <a:srgbClr val="000000"/>
                </a:solidFill>
                <a:latin typeface="Segoe UI"/>
              </a:rPr>
              <a:t>Saisie</a:t>
            </a:r>
            <a:r>
              <a:rPr sz="1350" dirty="0">
                <a:solidFill>
                  <a:srgbClr val="000000"/>
                </a:solidFill>
                <a:latin typeface="Segoe UI"/>
              </a:rPr>
              <a:t> </a:t>
            </a:r>
            <a:r>
              <a:rPr sz="1350" dirty="0" err="1">
                <a:solidFill>
                  <a:srgbClr val="000000"/>
                </a:solidFill>
                <a:latin typeface="Segoe UI"/>
              </a:rPr>
              <a:t>identifiants</a:t>
            </a:r>
            <a:endParaRPr sz="1350" dirty="0">
              <a:solidFill>
                <a:srgbClr val="000000"/>
              </a:solidFill>
              <a:latin typeface="Segoe UI"/>
            </a:endParaRPr>
          </a:p>
        </p:txBody>
      </p:sp>
      <p:pic>
        <p:nvPicPr>
          <p:cNvPr id="17" name="Picture 16" descr="temp_slide_0_el_15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096250" y="4579143"/>
            <a:ext cx="800100" cy="800100"/>
          </a:xfrm>
          <a:prstGeom prst="rect">
            <a:avLst/>
          </a:prstGeom>
        </p:spPr>
      </p:pic>
      <p:sp>
        <p:nvSpPr>
          <p:cNvPr id="18" name="Rectangle 17"/>
          <p:cNvSpPr/>
          <p:nvPr/>
        </p:nvSpPr>
        <p:spPr>
          <a:xfrm>
            <a:off x="8491537" y="5131593"/>
            <a:ext cx="9525" cy="190500"/>
          </a:xfrm>
          <a:prstGeom prst="rect">
            <a:avLst/>
          </a:prstGeom>
          <a:solidFill>
            <a:srgbClr val="D1D5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724900" y="4864893"/>
            <a:ext cx="1828800" cy="2524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6250"/>
              </a:lnSpc>
            </a:pPr>
            <a:r>
              <a:rPr sz="1350">
                <a:solidFill>
                  <a:srgbClr val="000000"/>
                </a:solidFill>
                <a:latin typeface="Segoe UI"/>
              </a:rPr>
              <a:t>Vérification</a:t>
            </a:r>
          </a:p>
        </p:txBody>
      </p:sp>
      <p:pic>
        <p:nvPicPr>
          <p:cNvPr id="20" name="Picture 19" descr="temp_slide_0_el_18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96250" y="5153976"/>
            <a:ext cx="800100" cy="800100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8705849" y="5512593"/>
            <a:ext cx="2457450" cy="2524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6250"/>
              </a:lnSpc>
            </a:pPr>
            <a:r>
              <a:rPr sz="1350" b="1" dirty="0" err="1">
                <a:solidFill>
                  <a:srgbClr val="000000"/>
                </a:solidFill>
                <a:latin typeface="Segoe UI"/>
              </a:rPr>
              <a:t>Accès</a:t>
            </a:r>
            <a:r>
              <a:rPr sz="1350" b="1" dirty="0">
                <a:solidFill>
                  <a:srgbClr val="000000"/>
                </a:solidFill>
                <a:latin typeface="Segoe UI"/>
              </a:rPr>
              <a:t> </a:t>
            </a:r>
            <a:r>
              <a:rPr sz="1350" b="1" dirty="0" err="1">
                <a:solidFill>
                  <a:srgbClr val="000000"/>
                </a:solidFill>
                <a:latin typeface="Segoe UI"/>
              </a:rPr>
              <a:t>autorisé</a:t>
            </a:r>
            <a:endParaRPr sz="1350" b="1" dirty="0">
              <a:solidFill>
                <a:srgbClr val="000000"/>
              </a:solidFill>
              <a:latin typeface="Segoe UI"/>
            </a:endParaRPr>
          </a:p>
        </p:txBody>
      </p:sp>
      <p:sp>
        <p:nvSpPr>
          <p:cNvPr id="26" name="ZoneTexte 25">
            <a:extLst>
              <a:ext uri="{FF2B5EF4-FFF2-40B4-BE49-F238E27FC236}">
                <a16:creationId xmlns:a16="http://schemas.microsoft.com/office/drawing/2014/main" id="{008A365E-7714-E3F9-259D-531B488AC546}"/>
              </a:ext>
            </a:extLst>
          </p:cNvPr>
          <p:cNvSpPr txBox="1"/>
          <p:nvPr/>
        </p:nvSpPr>
        <p:spPr>
          <a:xfrm>
            <a:off x="8596630" y="3368162"/>
            <a:ext cx="2009140" cy="3345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6250"/>
              </a:lnSpc>
            </a:pPr>
            <a:r>
              <a:rPr lang="fr-FR" sz="1600" dirty="0">
                <a:solidFill>
                  <a:srgbClr val="000000"/>
                </a:solidFill>
                <a:latin typeface="Segoe UI"/>
              </a:rPr>
              <a:t> </a:t>
            </a:r>
            <a:r>
              <a:rPr lang="en-US" sz="1600" dirty="0">
                <a:solidFill>
                  <a:srgbClr val="000000"/>
                </a:solidFill>
                <a:latin typeface="Segoe UI"/>
              </a:rPr>
              <a:t>Client</a:t>
            </a:r>
          </a:p>
        </p:txBody>
      </p:sp>
      <p:pic>
        <p:nvPicPr>
          <p:cNvPr id="33" name="Image 32">
            <a:extLst>
              <a:ext uri="{FF2B5EF4-FFF2-40B4-BE49-F238E27FC236}">
                <a16:creationId xmlns:a16="http://schemas.microsoft.com/office/drawing/2014/main" id="{D79837C1-C125-BBB5-B98B-CD6654908375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00025" y="345207"/>
            <a:ext cx="1143000" cy="1143000"/>
          </a:xfrm>
          <a:prstGeom prst="rect">
            <a:avLst/>
          </a:prstGeom>
        </p:spPr>
      </p:pic>
      <p:sp>
        <p:nvSpPr>
          <p:cNvPr id="3" name="TextBox 17">
            <a:extLst>
              <a:ext uri="{FF2B5EF4-FFF2-40B4-BE49-F238E27FC236}">
                <a16:creationId xmlns:a16="http://schemas.microsoft.com/office/drawing/2014/main" id="{BEB9006A-CC02-4DCA-9E71-8FF44960EEEA}"/>
              </a:ext>
            </a:extLst>
          </p:cNvPr>
          <p:cNvSpPr txBox="1"/>
          <p:nvPr/>
        </p:nvSpPr>
        <p:spPr>
          <a:xfrm>
            <a:off x="4305300" y="133350"/>
            <a:ext cx="8229600" cy="23852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6250"/>
              </a:lnSpc>
            </a:pPr>
            <a:r>
              <a:rPr sz="1575" b="1" dirty="0" err="1">
                <a:solidFill>
                  <a:srgbClr val="000000"/>
                </a:solidFill>
                <a:latin typeface="Segoe UI"/>
              </a:rPr>
              <a:t>Diagrammes</a:t>
            </a:r>
            <a:r>
              <a:rPr sz="1575" b="1" dirty="0">
                <a:solidFill>
                  <a:srgbClr val="000000"/>
                </a:solidFill>
                <a:latin typeface="Segoe UI"/>
              </a:rPr>
              <a:t> de </a:t>
            </a:r>
            <a:r>
              <a:rPr sz="1575" b="1" dirty="0" err="1">
                <a:solidFill>
                  <a:srgbClr val="000000"/>
                </a:solidFill>
                <a:latin typeface="Segoe UI"/>
              </a:rPr>
              <a:t>Séquence</a:t>
            </a:r>
            <a:endParaRPr sz="1575" b="1" dirty="0">
              <a:solidFill>
                <a:srgbClr val="000000"/>
              </a:solidFill>
              <a:latin typeface="Segoe UI"/>
            </a:endParaRPr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59924459-CFB5-02B5-E3A2-852A9E1616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11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Image 25">
            <a:extLst>
              <a:ext uri="{FF2B5EF4-FFF2-40B4-BE49-F238E27FC236}">
                <a16:creationId xmlns:a16="http://schemas.microsoft.com/office/drawing/2014/main" id="{9FB82357-E59D-2BD4-90F2-4D7C354D7D5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extBox 1"/>
          <p:cNvSpPr txBox="1"/>
          <p:nvPr/>
        </p:nvSpPr>
        <p:spPr>
          <a:xfrm>
            <a:off x="476250" y="190500"/>
            <a:ext cx="685800" cy="2143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7500"/>
              </a:lnSpc>
            </a:pPr>
            <a:r>
              <a:rPr sz="1125">
                <a:solidFill>
                  <a:srgbClr val="000000"/>
                </a:solidFill>
                <a:latin typeface="Segoe UI"/>
              </a:rPr>
              <a:t>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96450" y="190500"/>
            <a:ext cx="4038600" cy="2143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7500"/>
              </a:lnSpc>
            </a:pPr>
            <a:r>
              <a:rPr sz="1125">
                <a:solidFill>
                  <a:srgbClr val="000000"/>
                </a:solidFill>
                <a:latin typeface="Segoe UI"/>
              </a:rPr>
              <a:t>Stage SOLVERS Technologies</a:t>
            </a:r>
          </a:p>
        </p:txBody>
      </p:sp>
      <p:pic>
        <p:nvPicPr>
          <p:cNvPr id="5" name="Picture 4" descr="temp_slide_0_el_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9075" y="404812"/>
            <a:ext cx="8115306" cy="6615112"/>
          </a:xfrm>
          <a:prstGeom prst="rect">
            <a:avLst/>
          </a:prstGeom>
        </p:spPr>
      </p:pic>
      <p:pic>
        <p:nvPicPr>
          <p:cNvPr id="7" name="Picture 6" descr="temp_slide_0_el_5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0025" y="5876925"/>
            <a:ext cx="1143000" cy="11430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8382000" y="890587"/>
            <a:ext cx="3333750" cy="20002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6250"/>
              </a:lnSpc>
            </a:pPr>
            <a:r>
              <a:rPr sz="3150" b="1" dirty="0" err="1">
                <a:solidFill>
                  <a:srgbClr val="000000"/>
                </a:solidFill>
                <a:latin typeface="Segoe UI"/>
              </a:rPr>
              <a:t>Diagramme</a:t>
            </a:r>
            <a:r>
              <a:rPr sz="3150" b="1" dirty="0">
                <a:solidFill>
                  <a:srgbClr val="000000"/>
                </a:solidFill>
                <a:latin typeface="Segoe UI"/>
              </a:rPr>
              <a:t> de </a:t>
            </a:r>
            <a:r>
              <a:rPr sz="3150" b="1" dirty="0" err="1">
                <a:solidFill>
                  <a:srgbClr val="000000"/>
                </a:solidFill>
                <a:latin typeface="Segoe UI"/>
              </a:rPr>
              <a:t>Séquence</a:t>
            </a:r>
            <a:r>
              <a:rPr sz="3150" b="1" dirty="0">
                <a:solidFill>
                  <a:srgbClr val="000000"/>
                </a:solidFill>
                <a:latin typeface="Segoe UI"/>
              </a:rPr>
              <a:t> — Passage de </a:t>
            </a:r>
            <a:r>
              <a:rPr sz="3150" b="1" dirty="0" err="1">
                <a:solidFill>
                  <a:srgbClr val="000000"/>
                </a:solidFill>
                <a:latin typeface="Segoe UI"/>
              </a:rPr>
              <a:t>Commande</a:t>
            </a:r>
            <a:endParaRPr sz="3150" b="1" dirty="0">
              <a:solidFill>
                <a:srgbClr val="000000"/>
              </a:solidFill>
              <a:latin typeface="Segoe UI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8382000" y="3043237"/>
            <a:ext cx="762000" cy="381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382000" y="3367087"/>
            <a:ext cx="6667500" cy="2000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7500"/>
              </a:lnSpc>
            </a:pPr>
            <a:r>
              <a:rPr sz="1050" b="1">
                <a:solidFill>
                  <a:srgbClr val="0048FF"/>
                </a:solidFill>
                <a:latin typeface="Segoe UI"/>
              </a:rPr>
              <a:t>Acteur Principal</a:t>
            </a:r>
          </a:p>
        </p:txBody>
      </p:sp>
      <p:sp>
        <p:nvSpPr>
          <p:cNvPr id="12" name="Oval 11"/>
          <p:cNvSpPr/>
          <p:nvPr/>
        </p:nvSpPr>
        <p:spPr>
          <a:xfrm>
            <a:off x="8382000" y="3748087"/>
            <a:ext cx="76200" cy="76200"/>
          </a:xfrm>
          <a:prstGeom prst="ellipse">
            <a:avLst/>
          </a:prstGeom>
          <a:solidFill>
            <a:srgbClr val="004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382000" y="4119562"/>
            <a:ext cx="6667500" cy="2000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7500"/>
              </a:lnSpc>
            </a:pPr>
            <a:r>
              <a:rPr sz="1050" b="1">
                <a:solidFill>
                  <a:srgbClr val="0048FF"/>
                </a:solidFill>
                <a:latin typeface="Segoe UI"/>
              </a:rPr>
              <a:t>Flux de Commande</a:t>
            </a:r>
          </a:p>
        </p:txBody>
      </p:sp>
      <p:pic>
        <p:nvPicPr>
          <p:cNvPr id="14" name="Picture 13" descr="temp_slide_0_el_12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96250" y="4186237"/>
            <a:ext cx="800100" cy="800100"/>
          </a:xfrm>
          <a:prstGeom prst="rect">
            <a:avLst/>
          </a:prstGeom>
        </p:spPr>
      </p:pic>
      <p:sp>
        <p:nvSpPr>
          <p:cNvPr id="15" name="Rectangle 14"/>
          <p:cNvSpPr/>
          <p:nvPr/>
        </p:nvSpPr>
        <p:spPr>
          <a:xfrm>
            <a:off x="8491537" y="4738687"/>
            <a:ext cx="9525" cy="190500"/>
          </a:xfrm>
          <a:prstGeom prst="rect">
            <a:avLst/>
          </a:prstGeom>
          <a:solidFill>
            <a:srgbClr val="D1D5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724900" y="4433887"/>
            <a:ext cx="2914650" cy="2524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6250"/>
              </a:lnSpc>
            </a:pPr>
            <a:r>
              <a:rPr sz="1350" dirty="0" err="1">
                <a:solidFill>
                  <a:srgbClr val="000000"/>
                </a:solidFill>
                <a:latin typeface="Segoe UI"/>
              </a:rPr>
              <a:t>Sélection</a:t>
            </a:r>
            <a:r>
              <a:rPr sz="1350" dirty="0">
                <a:solidFill>
                  <a:srgbClr val="000000"/>
                </a:solidFill>
                <a:latin typeface="Segoe UI"/>
              </a:rPr>
              <a:t> </a:t>
            </a:r>
            <a:r>
              <a:rPr sz="1350" dirty="0" err="1">
                <a:solidFill>
                  <a:srgbClr val="000000"/>
                </a:solidFill>
                <a:latin typeface="Segoe UI"/>
              </a:rPr>
              <a:t>produits</a:t>
            </a:r>
            <a:endParaRPr sz="1350" dirty="0">
              <a:solidFill>
                <a:srgbClr val="000000"/>
              </a:solidFill>
              <a:latin typeface="Segoe UI"/>
            </a:endParaRPr>
          </a:p>
        </p:txBody>
      </p:sp>
      <p:pic>
        <p:nvPicPr>
          <p:cNvPr id="17" name="Picture 16" descr="temp_slide_0_el_15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096250" y="4795837"/>
            <a:ext cx="800100" cy="800100"/>
          </a:xfrm>
          <a:prstGeom prst="rect">
            <a:avLst/>
          </a:prstGeom>
        </p:spPr>
      </p:pic>
      <p:sp>
        <p:nvSpPr>
          <p:cNvPr id="18" name="Rectangle 17"/>
          <p:cNvSpPr/>
          <p:nvPr/>
        </p:nvSpPr>
        <p:spPr>
          <a:xfrm>
            <a:off x="8491537" y="5348287"/>
            <a:ext cx="9525" cy="190500"/>
          </a:xfrm>
          <a:prstGeom prst="rect">
            <a:avLst/>
          </a:prstGeom>
          <a:solidFill>
            <a:srgbClr val="D1D5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724900" y="5081587"/>
            <a:ext cx="2667000" cy="2524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6250"/>
              </a:lnSpc>
            </a:pPr>
            <a:r>
              <a:rPr sz="1350">
                <a:solidFill>
                  <a:srgbClr val="000000"/>
                </a:solidFill>
                <a:latin typeface="Segoe UI"/>
              </a:rPr>
              <a:t>Validation panier</a:t>
            </a:r>
          </a:p>
        </p:txBody>
      </p:sp>
      <p:pic>
        <p:nvPicPr>
          <p:cNvPr id="20" name="Picture 19" descr="temp_slide_0_el_18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96250" y="5405437"/>
            <a:ext cx="800100" cy="800100"/>
          </a:xfrm>
          <a:prstGeom prst="rect">
            <a:avLst/>
          </a:prstGeom>
        </p:spPr>
      </p:pic>
      <p:sp>
        <p:nvSpPr>
          <p:cNvPr id="21" name="Rectangle 20"/>
          <p:cNvSpPr/>
          <p:nvPr/>
        </p:nvSpPr>
        <p:spPr>
          <a:xfrm>
            <a:off x="8491537" y="5957887"/>
            <a:ext cx="9525" cy="190500"/>
          </a:xfrm>
          <a:prstGeom prst="rect">
            <a:avLst/>
          </a:prstGeom>
          <a:solidFill>
            <a:srgbClr val="D1D5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724900" y="5691187"/>
            <a:ext cx="3295650" cy="2524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6250"/>
              </a:lnSpc>
            </a:pPr>
            <a:r>
              <a:rPr sz="1350">
                <a:solidFill>
                  <a:srgbClr val="000000"/>
                </a:solidFill>
                <a:latin typeface="Segoe UI"/>
              </a:rPr>
              <a:t>Création commande</a:t>
            </a:r>
          </a:p>
        </p:txBody>
      </p:sp>
      <p:pic>
        <p:nvPicPr>
          <p:cNvPr id="23" name="Picture 22" descr="temp_slide_0_el_21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096250" y="6015037"/>
            <a:ext cx="800100" cy="800100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8724900" y="6300787"/>
            <a:ext cx="2266950" cy="2524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6250"/>
              </a:lnSpc>
            </a:pPr>
            <a:r>
              <a:rPr sz="1350" b="1">
                <a:solidFill>
                  <a:srgbClr val="000000"/>
                </a:solidFill>
                <a:latin typeface="Segoe UI"/>
              </a:rPr>
              <a:t>Confirmation</a:t>
            </a:r>
          </a:p>
        </p:txBody>
      </p:sp>
      <p:sp>
        <p:nvSpPr>
          <p:cNvPr id="25" name="TextBox 15">
            <a:extLst>
              <a:ext uri="{FF2B5EF4-FFF2-40B4-BE49-F238E27FC236}">
                <a16:creationId xmlns:a16="http://schemas.microsoft.com/office/drawing/2014/main" id="{81480824-3732-F457-DC4C-A2809EF301BB}"/>
              </a:ext>
            </a:extLst>
          </p:cNvPr>
          <p:cNvSpPr txBox="1"/>
          <p:nvPr/>
        </p:nvSpPr>
        <p:spPr>
          <a:xfrm>
            <a:off x="8724900" y="3712369"/>
            <a:ext cx="2914650" cy="20441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6250"/>
              </a:lnSpc>
            </a:pPr>
            <a:r>
              <a:rPr lang="fr-FR" sz="1350" dirty="0">
                <a:solidFill>
                  <a:srgbClr val="000000"/>
                </a:solidFill>
                <a:latin typeface="Segoe UI"/>
              </a:rPr>
              <a:t>Client</a:t>
            </a:r>
            <a:endParaRPr sz="1350" dirty="0">
              <a:solidFill>
                <a:srgbClr val="000000"/>
              </a:solidFill>
              <a:latin typeface="Segoe UI"/>
            </a:endParaRPr>
          </a:p>
        </p:txBody>
      </p:sp>
      <p:sp>
        <p:nvSpPr>
          <p:cNvPr id="3" name="TextBox 17">
            <a:extLst>
              <a:ext uri="{FF2B5EF4-FFF2-40B4-BE49-F238E27FC236}">
                <a16:creationId xmlns:a16="http://schemas.microsoft.com/office/drawing/2014/main" id="{4AC6E175-8FC0-80C9-C6F2-716A94A495A2}"/>
              </a:ext>
            </a:extLst>
          </p:cNvPr>
          <p:cNvSpPr txBox="1"/>
          <p:nvPr/>
        </p:nvSpPr>
        <p:spPr>
          <a:xfrm>
            <a:off x="4305300" y="123104"/>
            <a:ext cx="8229600" cy="23852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6250"/>
              </a:lnSpc>
            </a:pPr>
            <a:r>
              <a:rPr sz="1575" b="1" dirty="0" err="1">
                <a:solidFill>
                  <a:srgbClr val="000000"/>
                </a:solidFill>
                <a:latin typeface="Segoe UI"/>
              </a:rPr>
              <a:t>Diagrammes</a:t>
            </a:r>
            <a:r>
              <a:rPr sz="1575" b="1" dirty="0">
                <a:solidFill>
                  <a:srgbClr val="000000"/>
                </a:solidFill>
                <a:latin typeface="Segoe UI"/>
              </a:rPr>
              <a:t> de </a:t>
            </a:r>
            <a:r>
              <a:rPr sz="1575" b="1" dirty="0" err="1">
                <a:solidFill>
                  <a:srgbClr val="000000"/>
                </a:solidFill>
                <a:latin typeface="Segoe UI"/>
              </a:rPr>
              <a:t>Séquence</a:t>
            </a:r>
            <a:endParaRPr sz="1575" b="1" dirty="0">
              <a:solidFill>
                <a:srgbClr val="000000"/>
              </a:solidFill>
              <a:latin typeface="Segoe UI"/>
            </a:endParaRPr>
          </a:p>
        </p:txBody>
      </p:sp>
      <p:pic>
        <p:nvPicPr>
          <p:cNvPr id="27" name="Picture 46">
            <a:extLst>
              <a:ext uri="{FF2B5EF4-FFF2-40B4-BE49-F238E27FC236}">
                <a16:creationId xmlns:a16="http://schemas.microsoft.com/office/drawing/2014/main" id="{6A9A5099-1FCD-BFC4-065E-C31439717742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2451" y="809625"/>
            <a:ext cx="7353300" cy="5850704"/>
          </a:xfrm>
          <a:prstGeom prst="rect">
            <a:avLst/>
          </a:prstGeom>
        </p:spPr>
      </p:pic>
      <p:sp>
        <p:nvSpPr>
          <p:cNvPr id="28" name="Espace réservé du numéro de diapositive 27">
            <a:extLst>
              <a:ext uri="{FF2B5EF4-FFF2-40B4-BE49-F238E27FC236}">
                <a16:creationId xmlns:a16="http://schemas.microsoft.com/office/drawing/2014/main" id="{03491C86-B2A7-CB73-E1B8-794D26DF0F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12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temp_bg_slide_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76250" y="190500"/>
            <a:ext cx="685800" cy="2143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7500"/>
              </a:lnSpc>
            </a:pPr>
            <a:r>
              <a:rPr sz="1125">
                <a:solidFill>
                  <a:srgbClr val="000000"/>
                </a:solidFill>
                <a:latin typeface="Segoe UI"/>
              </a:rPr>
              <a:t>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96450" y="190500"/>
            <a:ext cx="4038600" cy="2143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7500"/>
              </a:lnSpc>
            </a:pPr>
            <a:r>
              <a:rPr sz="1125">
                <a:solidFill>
                  <a:srgbClr val="000000"/>
                </a:solidFill>
                <a:latin typeface="Segoe UI"/>
              </a:rPr>
              <a:t>Stage SOLVERS Technologies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76250" y="700087"/>
            <a:ext cx="11239500" cy="54495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6250"/>
              </a:lnSpc>
            </a:pPr>
            <a:r>
              <a:rPr sz="3600" b="1" dirty="0">
                <a:solidFill>
                  <a:srgbClr val="000000"/>
                </a:solidFill>
                <a:latin typeface="Segoe UI"/>
              </a:rPr>
              <a:t>Interface</a:t>
            </a:r>
            <a:r>
              <a:rPr lang="fr-FR" sz="3600" b="1" dirty="0">
                <a:solidFill>
                  <a:srgbClr val="000000"/>
                </a:solidFill>
                <a:latin typeface="Segoe UI"/>
              </a:rPr>
              <a:t>s</a:t>
            </a:r>
            <a:endParaRPr sz="3600" b="1" dirty="0">
              <a:solidFill>
                <a:srgbClr val="000000"/>
              </a:solidFill>
              <a:latin typeface="Segoe UI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476250" y="2033587"/>
            <a:ext cx="11239500" cy="2286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76250" y="1384299"/>
            <a:ext cx="224790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0000"/>
              </a:lnSpc>
              <a:defRPr sz="1800" b="1">
                <a:solidFill>
                  <a:srgbClr val="0048FF"/>
                </a:solidFill>
                <a:latin typeface="Segoe UI"/>
              </a:defRPr>
            </a:pPr>
            <a:r>
              <a:rPr dirty="0" err="1"/>
              <a:t>Écrans</a:t>
            </a:r>
            <a:r>
              <a:rPr dirty="0"/>
              <a:t> Interface </a:t>
            </a:r>
            <a:r>
              <a:rPr dirty="0" err="1"/>
              <a:t>Utilisateur</a:t>
            </a:r>
            <a:endParaRPr dirty="0"/>
          </a:p>
        </p:txBody>
      </p:sp>
      <p:cxnSp>
        <p:nvCxnSpPr>
          <p:cNvPr id="10" name="Connector 9"/>
          <p:cNvCxnSpPr/>
          <p:nvPr/>
        </p:nvCxnSpPr>
        <p:spPr>
          <a:xfrm>
            <a:off x="445770" y="1363027"/>
            <a:ext cx="0" cy="228600"/>
          </a:xfrm>
          <a:prstGeom prst="line">
            <a:avLst/>
          </a:prstGeom>
          <a:ln w="38100">
            <a:solidFill>
              <a:srgbClr val="0048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2" name="Picture 11" descr="temp_slide_0_el_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2080" y="1245045"/>
            <a:ext cx="5944870" cy="547643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2044751" y="6172201"/>
            <a:ext cx="71881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7500"/>
              </a:lnSpc>
            </a:pPr>
            <a:r>
              <a:rPr sz="1200" dirty="0" err="1">
                <a:solidFill>
                  <a:srgbClr val="000000"/>
                </a:solidFill>
                <a:latin typeface="Segoe UI"/>
              </a:rPr>
              <a:t>Création</a:t>
            </a:r>
            <a:r>
              <a:rPr sz="1200" dirty="0">
                <a:solidFill>
                  <a:srgbClr val="000000"/>
                </a:solidFill>
                <a:latin typeface="Segoe UI"/>
              </a:rPr>
              <a:t> de </a:t>
            </a:r>
            <a:r>
              <a:rPr sz="1200" dirty="0" err="1">
                <a:solidFill>
                  <a:srgbClr val="000000"/>
                </a:solidFill>
                <a:latin typeface="Segoe UI"/>
              </a:rPr>
              <a:t>compte</a:t>
            </a:r>
            <a:endParaRPr sz="1200" dirty="0">
              <a:solidFill>
                <a:srgbClr val="000000"/>
              </a:solidFill>
              <a:latin typeface="Segoe UI"/>
            </a:endParaRPr>
          </a:p>
        </p:txBody>
      </p:sp>
      <p:pic>
        <p:nvPicPr>
          <p:cNvPr id="15" name="Picture 14" descr="temp_slide_0_el_9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15052" y="1245045"/>
            <a:ext cx="6076949" cy="5308155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9094420" y="6127750"/>
            <a:ext cx="71881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7500"/>
              </a:lnSpc>
            </a:pPr>
            <a:r>
              <a:rPr sz="1200" dirty="0" err="1">
                <a:solidFill>
                  <a:srgbClr val="000000"/>
                </a:solidFill>
                <a:latin typeface="Segoe UI"/>
              </a:rPr>
              <a:t>Connexion</a:t>
            </a:r>
            <a:endParaRPr sz="1200" dirty="0">
              <a:solidFill>
                <a:srgbClr val="000000"/>
              </a:solidFill>
              <a:latin typeface="Segoe UI"/>
            </a:endParaRPr>
          </a:p>
        </p:txBody>
      </p:sp>
      <p:sp>
        <p:nvSpPr>
          <p:cNvPr id="20" name="Rectangle 19"/>
          <p:cNvSpPr/>
          <p:nvPr/>
        </p:nvSpPr>
        <p:spPr>
          <a:xfrm>
            <a:off x="476250" y="4491037"/>
            <a:ext cx="11239500" cy="2286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21">
            <a:extLst>
              <a:ext uri="{FF2B5EF4-FFF2-40B4-BE49-F238E27FC236}">
                <a16:creationId xmlns:a16="http://schemas.microsoft.com/office/drawing/2014/main" id="{8B7B6634-B19E-EAFB-F99E-07B6EF2E749F}"/>
              </a:ext>
            </a:extLst>
          </p:cNvPr>
          <p:cNvSpPr txBox="1"/>
          <p:nvPr/>
        </p:nvSpPr>
        <p:spPr>
          <a:xfrm>
            <a:off x="5314950" y="178392"/>
            <a:ext cx="4381500" cy="23852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6250"/>
              </a:lnSpc>
            </a:pPr>
            <a:r>
              <a:rPr sz="1575" b="1" dirty="0">
                <a:solidFill>
                  <a:srgbClr val="000000"/>
                </a:solidFill>
                <a:latin typeface="Segoe UI"/>
              </a:rPr>
              <a:t>Interface</a:t>
            </a:r>
            <a:r>
              <a:rPr lang="fr-FR" sz="1575" b="1" dirty="0">
                <a:solidFill>
                  <a:srgbClr val="000000"/>
                </a:solidFill>
                <a:latin typeface="Segoe UI"/>
              </a:rPr>
              <a:t>s</a:t>
            </a:r>
            <a:endParaRPr sz="1575" b="1" dirty="0">
              <a:solidFill>
                <a:srgbClr val="000000"/>
              </a:solidFill>
              <a:latin typeface="Segoe UI"/>
            </a:endParaRPr>
          </a:p>
        </p:txBody>
      </p:sp>
      <p:sp>
        <p:nvSpPr>
          <p:cNvPr id="33" name="Espace réservé du numéro de diapositive 32">
            <a:extLst>
              <a:ext uri="{FF2B5EF4-FFF2-40B4-BE49-F238E27FC236}">
                <a16:creationId xmlns:a16="http://schemas.microsoft.com/office/drawing/2014/main" id="{9A64AADD-883D-5EF0-E3B8-62F13D2347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13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43052C-2F17-300E-EDE0-1C4C89F591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temp_bg_slide_0.png">
            <a:extLst>
              <a:ext uri="{FF2B5EF4-FFF2-40B4-BE49-F238E27FC236}">
                <a16:creationId xmlns:a16="http://schemas.microsoft.com/office/drawing/2014/main" id="{C00F810D-CE81-E1C7-AC4D-AC124920725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2CD9F144-2F20-4612-2481-EAD9B57C9791}"/>
              </a:ext>
            </a:extLst>
          </p:cNvPr>
          <p:cNvSpPr txBox="1"/>
          <p:nvPr/>
        </p:nvSpPr>
        <p:spPr>
          <a:xfrm>
            <a:off x="476250" y="190500"/>
            <a:ext cx="685800" cy="2143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7500"/>
              </a:lnSpc>
            </a:pPr>
            <a:r>
              <a:rPr sz="1125">
                <a:solidFill>
                  <a:srgbClr val="000000"/>
                </a:solidFill>
                <a:latin typeface="Segoe UI"/>
              </a:rPr>
              <a:t>2026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038E309-4291-1C70-12CC-1790CDC970BC}"/>
              </a:ext>
            </a:extLst>
          </p:cNvPr>
          <p:cNvSpPr txBox="1"/>
          <p:nvPr/>
        </p:nvSpPr>
        <p:spPr>
          <a:xfrm>
            <a:off x="9696450" y="190500"/>
            <a:ext cx="4038600" cy="2143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7500"/>
              </a:lnSpc>
            </a:pPr>
            <a:r>
              <a:rPr sz="1125">
                <a:solidFill>
                  <a:srgbClr val="000000"/>
                </a:solidFill>
                <a:latin typeface="Segoe UI"/>
              </a:rPr>
              <a:t>Stage SOLVERS Technologies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95944EA-B9B6-0699-1632-F28A8F2D40DD}"/>
              </a:ext>
            </a:extLst>
          </p:cNvPr>
          <p:cNvSpPr txBox="1"/>
          <p:nvPr/>
        </p:nvSpPr>
        <p:spPr>
          <a:xfrm>
            <a:off x="476250" y="700087"/>
            <a:ext cx="11239500" cy="54495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6250"/>
              </a:lnSpc>
            </a:pPr>
            <a:r>
              <a:rPr sz="3600" b="1" dirty="0" err="1">
                <a:solidFill>
                  <a:srgbClr val="000000"/>
                </a:solidFill>
                <a:latin typeface="Segoe UI"/>
              </a:rPr>
              <a:t>Interfa</a:t>
            </a:r>
            <a:r>
              <a:rPr lang="fr-FR" sz="3600" b="1" dirty="0">
                <a:solidFill>
                  <a:srgbClr val="000000"/>
                </a:solidFill>
                <a:latin typeface="Segoe UI"/>
              </a:rPr>
              <a:t>ces</a:t>
            </a:r>
            <a:endParaRPr sz="3600" b="1" dirty="0">
              <a:solidFill>
                <a:srgbClr val="000000"/>
              </a:solidFill>
              <a:latin typeface="Segoe UI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B2826E8-2870-332C-9EAE-F0933A32FDF1}"/>
              </a:ext>
            </a:extLst>
          </p:cNvPr>
          <p:cNvSpPr/>
          <p:nvPr/>
        </p:nvSpPr>
        <p:spPr>
          <a:xfrm>
            <a:off x="476250" y="2033587"/>
            <a:ext cx="11239500" cy="2286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D0257864-DFB2-C2B0-85CB-E1DB84E807C4}"/>
              </a:ext>
            </a:extLst>
          </p:cNvPr>
          <p:cNvSpPr/>
          <p:nvPr/>
        </p:nvSpPr>
        <p:spPr>
          <a:xfrm>
            <a:off x="476250" y="4491037"/>
            <a:ext cx="11239500" cy="2286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21" name="Connector 20">
            <a:extLst>
              <a:ext uri="{FF2B5EF4-FFF2-40B4-BE49-F238E27FC236}">
                <a16:creationId xmlns:a16="http://schemas.microsoft.com/office/drawing/2014/main" id="{C6CF8B07-CA12-0C83-288A-37B267B867D4}"/>
              </a:ext>
            </a:extLst>
          </p:cNvPr>
          <p:cNvCxnSpPr/>
          <p:nvPr/>
        </p:nvCxnSpPr>
        <p:spPr>
          <a:xfrm>
            <a:off x="476250" y="1412557"/>
            <a:ext cx="0" cy="228600"/>
          </a:xfrm>
          <a:prstGeom prst="line">
            <a:avLst/>
          </a:prstGeom>
          <a:ln w="38100">
            <a:solidFill>
              <a:srgbClr val="0048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B602FED3-E9E5-1425-9256-061FC2C4F11B}"/>
              </a:ext>
            </a:extLst>
          </p:cNvPr>
          <p:cNvSpPr txBox="1"/>
          <p:nvPr/>
        </p:nvSpPr>
        <p:spPr>
          <a:xfrm>
            <a:off x="506730" y="1382077"/>
            <a:ext cx="224790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0000"/>
              </a:lnSpc>
              <a:defRPr sz="1800" b="1">
                <a:solidFill>
                  <a:srgbClr val="0048FF"/>
                </a:solidFill>
                <a:latin typeface="Segoe UI"/>
              </a:defRPr>
            </a:pPr>
            <a:r>
              <a:rPr dirty="0"/>
              <a:t>Modules </a:t>
            </a:r>
            <a:r>
              <a:rPr dirty="0" err="1"/>
              <a:t>Administrateur</a:t>
            </a:r>
            <a:r>
              <a:rPr dirty="0"/>
              <a:t> / Gestion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85DB5271-8AFB-07D6-A7C7-36C4D28307D9}"/>
              </a:ext>
            </a:extLst>
          </p:cNvPr>
          <p:cNvSpPr/>
          <p:nvPr/>
        </p:nvSpPr>
        <p:spPr>
          <a:xfrm>
            <a:off x="476250" y="2718616"/>
            <a:ext cx="5173877" cy="2143124"/>
          </a:xfrm>
          <a:prstGeom prst="rect">
            <a:avLst/>
          </a:prstGeom>
          <a:solidFill>
            <a:srgbClr val="F9FAFB"/>
          </a:solidFill>
          <a:ln w="952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pic>
        <p:nvPicPr>
          <p:cNvPr id="25" name="Picture 24" descr="temp_slide_0_el_16.png">
            <a:extLst>
              <a:ext uri="{FF2B5EF4-FFF2-40B4-BE49-F238E27FC236}">
                <a16:creationId xmlns:a16="http://schemas.microsoft.com/office/drawing/2014/main" id="{AD32C832-9E3F-AB89-796E-A8117E963D5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807" y="1182834"/>
            <a:ext cx="6038193" cy="5538641"/>
          </a:xfrm>
          <a:prstGeom prst="rect">
            <a:avLst/>
          </a:prstGeom>
        </p:spPr>
      </p:pic>
      <p:sp>
        <p:nvSpPr>
          <p:cNvPr id="26" name="TextBox 25">
            <a:extLst>
              <a:ext uri="{FF2B5EF4-FFF2-40B4-BE49-F238E27FC236}">
                <a16:creationId xmlns:a16="http://schemas.microsoft.com/office/drawing/2014/main" id="{41947F8B-009F-8569-91C8-51D466A57BC1}"/>
              </a:ext>
            </a:extLst>
          </p:cNvPr>
          <p:cNvSpPr txBox="1"/>
          <p:nvPr/>
        </p:nvSpPr>
        <p:spPr>
          <a:xfrm>
            <a:off x="2197101" y="6127750"/>
            <a:ext cx="71881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7500"/>
              </a:lnSpc>
            </a:pPr>
            <a:r>
              <a:rPr sz="1200" dirty="0">
                <a:solidFill>
                  <a:srgbClr val="000000"/>
                </a:solidFill>
                <a:latin typeface="Segoe UI"/>
              </a:rPr>
              <a:t>Tableau de bord admin</a:t>
            </a:r>
          </a:p>
        </p:txBody>
      </p:sp>
      <p:pic>
        <p:nvPicPr>
          <p:cNvPr id="28" name="Picture 27" descr="temp_slide_0_el_19.png">
            <a:extLst>
              <a:ext uri="{FF2B5EF4-FFF2-40B4-BE49-F238E27FC236}">
                <a16:creationId xmlns:a16="http://schemas.microsoft.com/office/drawing/2014/main" id="{DA2A5163-BF90-096C-02BA-FEC3907E9DC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32174" y="1170727"/>
            <a:ext cx="6708749" cy="5625064"/>
          </a:xfrm>
          <a:prstGeom prst="rect">
            <a:avLst/>
          </a:prstGeom>
        </p:spPr>
      </p:pic>
      <p:sp>
        <p:nvSpPr>
          <p:cNvPr id="29" name="TextBox 28">
            <a:extLst>
              <a:ext uri="{FF2B5EF4-FFF2-40B4-BE49-F238E27FC236}">
                <a16:creationId xmlns:a16="http://schemas.microsoft.com/office/drawing/2014/main" id="{26F01CD6-728F-7F2E-19B7-2F301DAD4996}"/>
              </a:ext>
            </a:extLst>
          </p:cNvPr>
          <p:cNvSpPr txBox="1"/>
          <p:nvPr/>
        </p:nvSpPr>
        <p:spPr>
          <a:xfrm>
            <a:off x="8291780" y="6043613"/>
            <a:ext cx="71881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7500"/>
              </a:lnSpc>
            </a:pPr>
            <a:r>
              <a:rPr sz="1200" dirty="0">
                <a:solidFill>
                  <a:srgbClr val="000000"/>
                </a:solidFill>
                <a:latin typeface="Segoe UI"/>
              </a:rPr>
              <a:t>Gestion du stock</a:t>
            </a:r>
          </a:p>
        </p:txBody>
      </p:sp>
      <p:sp>
        <p:nvSpPr>
          <p:cNvPr id="4" name="TextBox 21">
            <a:extLst>
              <a:ext uri="{FF2B5EF4-FFF2-40B4-BE49-F238E27FC236}">
                <a16:creationId xmlns:a16="http://schemas.microsoft.com/office/drawing/2014/main" id="{DF978337-5323-0BFB-CADA-51B330794890}"/>
              </a:ext>
            </a:extLst>
          </p:cNvPr>
          <p:cNvSpPr txBox="1"/>
          <p:nvPr/>
        </p:nvSpPr>
        <p:spPr>
          <a:xfrm>
            <a:off x="5314950" y="178392"/>
            <a:ext cx="4381500" cy="23852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6250"/>
              </a:lnSpc>
            </a:pPr>
            <a:r>
              <a:rPr sz="1575" b="1" dirty="0">
                <a:solidFill>
                  <a:srgbClr val="000000"/>
                </a:solidFill>
                <a:latin typeface="Segoe UI"/>
              </a:rPr>
              <a:t>Interface</a:t>
            </a:r>
            <a:r>
              <a:rPr lang="fr-FR" sz="1575" b="1" dirty="0">
                <a:solidFill>
                  <a:srgbClr val="000000"/>
                </a:solidFill>
                <a:latin typeface="Segoe UI"/>
              </a:rPr>
              <a:t>s</a:t>
            </a:r>
            <a:endParaRPr sz="1575" b="1" dirty="0">
              <a:solidFill>
                <a:srgbClr val="000000"/>
              </a:solidFill>
              <a:latin typeface="Segoe UI"/>
            </a:endParaRPr>
          </a:p>
        </p:txBody>
      </p:sp>
      <p:sp>
        <p:nvSpPr>
          <p:cNvPr id="33" name="Espace réservé du numéro de diapositive 32">
            <a:extLst>
              <a:ext uri="{FF2B5EF4-FFF2-40B4-BE49-F238E27FC236}">
                <a16:creationId xmlns:a16="http://schemas.microsoft.com/office/drawing/2014/main" id="{A644B40A-C11F-91C6-F968-79A3B5A8F1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14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0900683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" descr="temp_bg_slide_0.png">
            <a:extLst>
              <a:ext uri="{FF2B5EF4-FFF2-40B4-BE49-F238E27FC236}">
                <a16:creationId xmlns:a16="http://schemas.microsoft.com/office/drawing/2014/main" id="{43A1A8D0-6AAB-90A8-22F2-E0D6D2A588C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0144"/>
            <a:ext cx="12192000" cy="6858000"/>
          </a:xfrm>
          <a:prstGeom prst="rect">
            <a:avLst/>
          </a:prstGeom>
        </p:spPr>
      </p:pic>
      <p:sp>
        <p:nvSpPr>
          <p:cNvPr id="2" name="TextBox 1"/>
          <p:cNvSpPr txBox="1"/>
          <p:nvPr/>
        </p:nvSpPr>
        <p:spPr>
          <a:xfrm>
            <a:off x="476250" y="190500"/>
            <a:ext cx="685800" cy="2143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7500"/>
              </a:lnSpc>
            </a:pPr>
            <a:r>
              <a:rPr sz="1125">
                <a:solidFill>
                  <a:srgbClr val="000000"/>
                </a:solidFill>
                <a:latin typeface="Segoe UI"/>
              </a:rPr>
              <a:t>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96450" y="190500"/>
            <a:ext cx="4038600" cy="2143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7500"/>
              </a:lnSpc>
            </a:pPr>
            <a:r>
              <a:rPr sz="1125">
                <a:solidFill>
                  <a:srgbClr val="000000"/>
                </a:solidFill>
                <a:latin typeface="Segoe UI"/>
              </a:rPr>
              <a:t>Stage SOLVERS Technologies</a:t>
            </a:r>
          </a:p>
        </p:txBody>
      </p:sp>
      <p:pic>
        <p:nvPicPr>
          <p:cNvPr id="5" name="Picture 4" descr="temp_slide_0_el_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5750" y="2683668"/>
            <a:ext cx="1905000" cy="1905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62000" y="3236118"/>
            <a:ext cx="11191874" cy="10763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0000"/>
              </a:lnSpc>
            </a:pPr>
            <a:r>
              <a:rPr sz="6750" b="1">
                <a:solidFill>
                  <a:srgbClr val="000000"/>
                </a:solidFill>
                <a:latin typeface="Segoe UI"/>
              </a:rPr>
              <a:t>Conclusion</a:t>
            </a:r>
          </a:p>
        </p:txBody>
      </p:sp>
      <p:pic>
        <p:nvPicPr>
          <p:cNvPr id="7" name="Picture 6" descr="temp_slide_0_el_5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34000" y="1325165"/>
            <a:ext cx="1104900" cy="11430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619750" y="2125265"/>
            <a:ext cx="10858500" cy="2143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6250"/>
              </a:lnSpc>
            </a:pPr>
            <a:r>
              <a:rPr sz="1350" b="1">
                <a:solidFill>
                  <a:srgbClr val="000000"/>
                </a:solidFill>
                <a:latin typeface="Segoe UI"/>
              </a:rPr>
              <a:t>Résultat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19750" y="2415778"/>
            <a:ext cx="5429250" cy="47148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6875"/>
              </a:lnSpc>
            </a:pPr>
            <a:r>
              <a:rPr sz="1350">
                <a:solidFill>
                  <a:srgbClr val="364153"/>
                </a:solidFill>
                <a:latin typeface="Segoe UI"/>
              </a:rPr>
              <a:t>Participation active à la conception et au développement d'une plateforme E-commerce (produits, commandes, utilisateurs)</a:t>
            </a:r>
          </a:p>
        </p:txBody>
      </p:sp>
      <p:pic>
        <p:nvPicPr>
          <p:cNvPr id="10" name="Picture 9" descr="temp_slide_0_el_8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34000" y="2849165"/>
            <a:ext cx="1104900" cy="11430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5619750" y="3649265"/>
            <a:ext cx="10858500" cy="2143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6250"/>
              </a:lnSpc>
            </a:pPr>
            <a:r>
              <a:rPr sz="1350" b="1">
                <a:solidFill>
                  <a:srgbClr val="000000"/>
                </a:solidFill>
                <a:latin typeface="Segoe UI"/>
              </a:rPr>
              <a:t>Apprentissage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19750" y="3939778"/>
            <a:ext cx="10858500" cy="23574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6875"/>
              </a:lnSpc>
            </a:pPr>
            <a:r>
              <a:rPr sz="1350">
                <a:solidFill>
                  <a:srgbClr val="364153"/>
                </a:solidFill>
                <a:latin typeface="Segoe UI"/>
              </a:rPr>
              <a:t>Découverte et pratique de Next.js (frontend) et NestJS (backend)</a:t>
            </a:r>
          </a:p>
        </p:txBody>
      </p:sp>
      <p:pic>
        <p:nvPicPr>
          <p:cNvPr id="13" name="Picture 12" descr="temp_slide_0_el_11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334000" y="4137421"/>
            <a:ext cx="1104900" cy="114300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5619750" y="4937521"/>
            <a:ext cx="10858500" cy="2143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6250"/>
              </a:lnSpc>
            </a:pPr>
            <a:r>
              <a:rPr sz="1350" b="1">
                <a:solidFill>
                  <a:srgbClr val="000000"/>
                </a:solidFill>
                <a:latin typeface="Segoe UI"/>
              </a:rPr>
              <a:t>Bilan Personnel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619750" y="5228034"/>
            <a:ext cx="5429250" cy="47148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6875"/>
              </a:lnSpc>
            </a:pPr>
            <a:r>
              <a:rPr sz="1350">
                <a:solidFill>
                  <a:srgbClr val="364153"/>
                </a:solidFill>
                <a:latin typeface="Segoe UI"/>
              </a:rPr>
              <a:t>Immersion professionnelle, compétences pratiques en développement web renforcées</a:t>
            </a: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1737B4FF-4B7C-56F8-9F16-71CE94730B95}"/>
              </a:ext>
            </a:extLst>
          </p:cNvPr>
          <p:cNvSpPr txBox="1"/>
          <p:nvPr/>
        </p:nvSpPr>
        <p:spPr>
          <a:xfrm>
            <a:off x="4969387" y="90070"/>
            <a:ext cx="7565922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580" b="1" kern="1200" dirty="0">
                <a:solidFill>
                  <a:srgbClr val="000000"/>
                </a:solidFill>
                <a:effectLst/>
                <a:latin typeface="Segoe UI" panose="020B0502040204020203" pitchFamily="34" charset="0"/>
                <a:ea typeface="+mn-ea"/>
                <a:cs typeface="+mn-cs"/>
              </a:rPr>
              <a:t>Conclusion</a:t>
            </a:r>
            <a:endParaRPr lang="en-US" sz="1580" b="1" dirty="0"/>
          </a:p>
        </p:txBody>
      </p:sp>
      <p:sp>
        <p:nvSpPr>
          <p:cNvPr id="17" name="Espace réservé du numéro de diapositive 16">
            <a:extLst>
              <a:ext uri="{FF2B5EF4-FFF2-40B4-BE49-F238E27FC236}">
                <a16:creationId xmlns:a16="http://schemas.microsoft.com/office/drawing/2014/main" id="{9230ECF9-C18C-8D59-F683-109514B04D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15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48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temp_slide_0_el_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0500" y="3524250"/>
            <a:ext cx="4191000" cy="4191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76250" y="190500"/>
            <a:ext cx="685800" cy="2143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7500"/>
              </a:lnSpc>
            </a:pPr>
            <a:r>
              <a:rPr sz="1125">
                <a:solidFill>
                  <a:srgbClr val="FFFFFF"/>
                </a:solidFill>
                <a:latin typeface="Segoe UI"/>
              </a:rPr>
              <a:t>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96450" y="190500"/>
            <a:ext cx="4038600" cy="2143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7500"/>
              </a:lnSpc>
            </a:pPr>
            <a:r>
              <a:rPr sz="1125">
                <a:solidFill>
                  <a:srgbClr val="FFFFFF"/>
                </a:solidFill>
                <a:latin typeface="Segoe UI"/>
              </a:rPr>
              <a:t>Stage SOLVERS Technologies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33285" y="1363841"/>
            <a:ext cx="7391400" cy="373948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0000"/>
              </a:lnSpc>
            </a:pPr>
            <a:r>
              <a:rPr sz="9000" b="1" dirty="0">
                <a:solidFill>
                  <a:srgbClr val="FFFFFF"/>
                </a:solidFill>
                <a:latin typeface="Segoe UI"/>
              </a:rPr>
              <a:t>Merci</a:t>
            </a:r>
            <a:r>
              <a:rPr lang="fr-FR" sz="9000" b="1" dirty="0">
                <a:solidFill>
                  <a:srgbClr val="FFFFFF"/>
                </a:solidFill>
                <a:latin typeface="Segoe UI"/>
              </a:rPr>
              <a:t> pour votre attention</a:t>
            </a:r>
            <a:endParaRPr sz="9000" b="1" dirty="0">
              <a:solidFill>
                <a:srgbClr val="FFFFFF"/>
              </a:solidFill>
              <a:latin typeface="Segoe UI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4667250" y="3821906"/>
            <a:ext cx="2857500" cy="2857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929D13CE-749C-286D-F9ED-9A128CE33E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16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299</TotalTime>
  <Words>558</Words>
  <Application>Microsoft Office PowerPoint</Application>
  <PresentationFormat>Grand écran</PresentationFormat>
  <Paragraphs>173</Paragraphs>
  <Slides>16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4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16</vt:i4>
      </vt:variant>
    </vt:vector>
  </HeadingPairs>
  <TitlesOfParts>
    <vt:vector size="21" baseType="lpstr">
      <vt:lpstr>Aptos</vt:lpstr>
      <vt:lpstr>Arial</vt:lpstr>
      <vt:lpstr>Calibri</vt:lpstr>
      <vt:lpstr>Segoe UI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dokie</dc:creator>
  <cp:keywords/>
  <dc:description>generated using python-pptx</dc:description>
  <cp:lastModifiedBy>ben ghiline Sohib2026</cp:lastModifiedBy>
  <cp:revision>7</cp:revision>
  <dcterms:created xsi:type="dcterms:W3CDTF">2026-02-26T20:15:08Z</dcterms:created>
  <dcterms:modified xsi:type="dcterms:W3CDTF">2026-02-27T23:05:26Z</dcterms:modified>
  <cp:category/>
</cp:coreProperties>
</file>